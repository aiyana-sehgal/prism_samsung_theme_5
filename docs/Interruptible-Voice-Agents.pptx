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A0C12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A0C12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A0C12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A0C12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A0C12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A0C12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A0C12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A0C12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A0C12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A0C12"/>
        </a:fontRef>
        <a:srgbClr val="0A0C12"/>
      </a:tcTxStyle>
      <a:tcStyle>
        <a:tcBdr>
          <a:left>
            <a:ln w="12700" cap="flat">
              <a:solidFill>
                <a:srgbClr val="F4F6FB"/>
              </a:solidFill>
              <a:prstDash val="solid"/>
              <a:round/>
            </a:ln>
          </a:left>
          <a:right>
            <a:ln w="12700" cap="flat">
              <a:solidFill>
                <a:srgbClr val="F4F6FB"/>
              </a:solidFill>
              <a:prstDash val="solid"/>
              <a:round/>
            </a:ln>
          </a:right>
          <a:top>
            <a:ln w="12700" cap="flat">
              <a:solidFill>
                <a:srgbClr val="F4F6FB"/>
              </a:solidFill>
              <a:prstDash val="solid"/>
              <a:round/>
            </a:ln>
          </a:top>
          <a:bottom>
            <a:ln w="12700" cap="flat">
              <a:solidFill>
                <a:srgbClr val="F4F6FB"/>
              </a:solidFill>
              <a:prstDash val="solid"/>
              <a:round/>
            </a:ln>
          </a:bottom>
          <a:insideH>
            <a:ln w="12700" cap="flat">
              <a:solidFill>
                <a:srgbClr val="F4F6FB"/>
              </a:solidFill>
              <a:prstDash val="solid"/>
              <a:round/>
            </a:ln>
          </a:insideH>
          <a:insideV>
            <a:ln w="12700" cap="flat">
              <a:solidFill>
                <a:srgbClr val="F4F6FB"/>
              </a:solidFill>
              <a:prstDash val="solid"/>
              <a:round/>
            </a:ln>
          </a:insideV>
        </a:tcBdr>
        <a:fill>
          <a:solidFill>
            <a:srgbClr val="FFE3CB"/>
          </a:solidFill>
        </a:fill>
      </a:tcStyle>
    </a:wholeTbl>
    <a:band2H>
      <a:tcTxStyle b="def" i="def"/>
      <a:tcStyle>
        <a:tcBdr/>
        <a:fill>
          <a:solidFill>
            <a:srgbClr val="FFF2E7"/>
          </a:solidFill>
        </a:fill>
      </a:tcStyle>
    </a:band2H>
    <a:firstCol>
      <a:tcTxStyle b="on" i="off">
        <a:fontRef idx="major">
          <a:srgbClr val="F4F6FB"/>
        </a:fontRef>
        <a:srgbClr val="F4F6FB"/>
      </a:tcTxStyle>
      <a:tcStyle>
        <a:tcBdr>
          <a:left>
            <a:ln w="12700" cap="flat">
              <a:solidFill>
                <a:srgbClr val="F4F6FB"/>
              </a:solidFill>
              <a:prstDash val="solid"/>
              <a:round/>
            </a:ln>
          </a:left>
          <a:right>
            <a:ln w="12700" cap="flat">
              <a:solidFill>
                <a:srgbClr val="F4F6FB"/>
              </a:solidFill>
              <a:prstDash val="solid"/>
              <a:round/>
            </a:ln>
          </a:right>
          <a:top>
            <a:ln w="12700" cap="flat">
              <a:solidFill>
                <a:srgbClr val="F4F6FB"/>
              </a:solidFill>
              <a:prstDash val="solid"/>
              <a:round/>
            </a:ln>
          </a:top>
          <a:bottom>
            <a:ln w="12700" cap="flat">
              <a:solidFill>
                <a:srgbClr val="F4F6FB"/>
              </a:solidFill>
              <a:prstDash val="solid"/>
              <a:round/>
            </a:ln>
          </a:bottom>
          <a:insideH>
            <a:ln w="12700" cap="flat">
              <a:solidFill>
                <a:srgbClr val="F4F6FB"/>
              </a:solidFill>
              <a:prstDash val="solid"/>
              <a:round/>
            </a:ln>
          </a:insideH>
          <a:insideV>
            <a:ln w="12700" cap="flat">
              <a:solidFill>
                <a:srgbClr val="F4F6FB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4F6FB"/>
        </a:fontRef>
        <a:srgbClr val="F4F6FB"/>
      </a:tcTxStyle>
      <a:tcStyle>
        <a:tcBdr>
          <a:left>
            <a:ln w="12700" cap="flat">
              <a:solidFill>
                <a:srgbClr val="F4F6FB"/>
              </a:solidFill>
              <a:prstDash val="solid"/>
              <a:round/>
            </a:ln>
          </a:left>
          <a:right>
            <a:ln w="12700" cap="flat">
              <a:solidFill>
                <a:srgbClr val="F4F6FB"/>
              </a:solidFill>
              <a:prstDash val="solid"/>
              <a:round/>
            </a:ln>
          </a:right>
          <a:top>
            <a:ln w="38100" cap="flat">
              <a:solidFill>
                <a:srgbClr val="F4F6FB"/>
              </a:solidFill>
              <a:prstDash val="solid"/>
              <a:round/>
            </a:ln>
          </a:top>
          <a:bottom>
            <a:ln w="12700" cap="flat">
              <a:solidFill>
                <a:srgbClr val="F4F6FB"/>
              </a:solidFill>
              <a:prstDash val="solid"/>
              <a:round/>
            </a:ln>
          </a:bottom>
          <a:insideH>
            <a:ln w="12700" cap="flat">
              <a:solidFill>
                <a:srgbClr val="F4F6FB"/>
              </a:solidFill>
              <a:prstDash val="solid"/>
              <a:round/>
            </a:ln>
          </a:insideH>
          <a:insideV>
            <a:ln w="12700" cap="flat">
              <a:solidFill>
                <a:srgbClr val="F4F6FB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4F6FB"/>
        </a:fontRef>
        <a:srgbClr val="F4F6FB"/>
      </a:tcTxStyle>
      <a:tcStyle>
        <a:tcBdr>
          <a:left>
            <a:ln w="12700" cap="flat">
              <a:solidFill>
                <a:srgbClr val="F4F6FB"/>
              </a:solidFill>
              <a:prstDash val="solid"/>
              <a:round/>
            </a:ln>
          </a:left>
          <a:right>
            <a:ln w="12700" cap="flat">
              <a:solidFill>
                <a:srgbClr val="F4F6FB"/>
              </a:solidFill>
              <a:prstDash val="solid"/>
              <a:round/>
            </a:ln>
          </a:right>
          <a:top>
            <a:ln w="12700" cap="flat">
              <a:solidFill>
                <a:srgbClr val="F4F6FB"/>
              </a:solidFill>
              <a:prstDash val="solid"/>
              <a:round/>
            </a:ln>
          </a:top>
          <a:bottom>
            <a:ln w="38100" cap="flat">
              <a:solidFill>
                <a:srgbClr val="F4F6FB"/>
              </a:solidFill>
              <a:prstDash val="solid"/>
              <a:round/>
            </a:ln>
          </a:bottom>
          <a:insideH>
            <a:ln w="12700" cap="flat">
              <a:solidFill>
                <a:srgbClr val="F4F6FB"/>
              </a:solidFill>
              <a:prstDash val="solid"/>
              <a:round/>
            </a:ln>
          </a:insideH>
          <a:insideV>
            <a:ln w="12700" cap="flat">
              <a:solidFill>
                <a:srgbClr val="F4F6FB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A0C12"/>
        </a:fontRef>
        <a:srgbClr val="0A0C12"/>
      </a:tcTxStyle>
      <a:tcStyle>
        <a:tcBdr>
          <a:left>
            <a:ln w="12700" cap="flat">
              <a:solidFill>
                <a:srgbClr val="F4F6FB"/>
              </a:solidFill>
              <a:prstDash val="solid"/>
              <a:round/>
            </a:ln>
          </a:left>
          <a:right>
            <a:ln w="12700" cap="flat">
              <a:solidFill>
                <a:srgbClr val="F4F6FB"/>
              </a:solidFill>
              <a:prstDash val="solid"/>
              <a:round/>
            </a:ln>
          </a:right>
          <a:top>
            <a:ln w="12700" cap="flat">
              <a:solidFill>
                <a:srgbClr val="F4F6FB"/>
              </a:solidFill>
              <a:prstDash val="solid"/>
              <a:round/>
            </a:ln>
          </a:top>
          <a:bottom>
            <a:ln w="12700" cap="flat">
              <a:solidFill>
                <a:srgbClr val="F4F6FB"/>
              </a:solidFill>
              <a:prstDash val="solid"/>
              <a:round/>
            </a:ln>
          </a:bottom>
          <a:insideH>
            <a:ln w="12700" cap="flat">
              <a:solidFill>
                <a:srgbClr val="F4F6FB"/>
              </a:solidFill>
              <a:prstDash val="solid"/>
              <a:round/>
            </a:ln>
          </a:insideH>
          <a:insideV>
            <a:ln w="12700" cap="flat">
              <a:solidFill>
                <a:srgbClr val="F4F6FB"/>
              </a:solidFill>
              <a:prstDash val="solid"/>
              <a:round/>
            </a:ln>
          </a:insideV>
        </a:tcBdr>
        <a:fill>
          <a:solidFill>
            <a:srgbClr val="FFD1D3"/>
          </a:solidFill>
        </a:fill>
      </a:tcStyle>
    </a:wholeTbl>
    <a:band2H>
      <a:tcTxStyle b="def" i="def"/>
      <a:tcStyle>
        <a:tcBdr/>
        <a:fill>
          <a:solidFill>
            <a:srgbClr val="FFE9EA"/>
          </a:solidFill>
        </a:fill>
      </a:tcStyle>
    </a:band2H>
    <a:firstCol>
      <a:tcTxStyle b="on" i="off">
        <a:fontRef idx="major">
          <a:srgbClr val="F4F6FB"/>
        </a:fontRef>
        <a:srgbClr val="F4F6FB"/>
      </a:tcTxStyle>
      <a:tcStyle>
        <a:tcBdr>
          <a:left>
            <a:ln w="12700" cap="flat">
              <a:solidFill>
                <a:srgbClr val="F4F6FB"/>
              </a:solidFill>
              <a:prstDash val="solid"/>
              <a:round/>
            </a:ln>
          </a:left>
          <a:right>
            <a:ln w="12700" cap="flat">
              <a:solidFill>
                <a:srgbClr val="F4F6FB"/>
              </a:solidFill>
              <a:prstDash val="solid"/>
              <a:round/>
            </a:ln>
          </a:right>
          <a:top>
            <a:ln w="12700" cap="flat">
              <a:solidFill>
                <a:srgbClr val="F4F6FB"/>
              </a:solidFill>
              <a:prstDash val="solid"/>
              <a:round/>
            </a:ln>
          </a:top>
          <a:bottom>
            <a:ln w="12700" cap="flat">
              <a:solidFill>
                <a:srgbClr val="F4F6FB"/>
              </a:solidFill>
              <a:prstDash val="solid"/>
              <a:round/>
            </a:ln>
          </a:bottom>
          <a:insideH>
            <a:ln w="12700" cap="flat">
              <a:solidFill>
                <a:srgbClr val="F4F6FB"/>
              </a:solidFill>
              <a:prstDash val="solid"/>
              <a:round/>
            </a:ln>
          </a:insideH>
          <a:insideV>
            <a:ln w="12700" cap="flat">
              <a:solidFill>
                <a:srgbClr val="F4F6FB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4F6FB"/>
        </a:fontRef>
        <a:srgbClr val="F4F6FB"/>
      </a:tcTxStyle>
      <a:tcStyle>
        <a:tcBdr>
          <a:left>
            <a:ln w="12700" cap="flat">
              <a:solidFill>
                <a:srgbClr val="F4F6FB"/>
              </a:solidFill>
              <a:prstDash val="solid"/>
              <a:round/>
            </a:ln>
          </a:left>
          <a:right>
            <a:ln w="12700" cap="flat">
              <a:solidFill>
                <a:srgbClr val="F4F6FB"/>
              </a:solidFill>
              <a:prstDash val="solid"/>
              <a:round/>
            </a:ln>
          </a:right>
          <a:top>
            <a:ln w="38100" cap="flat">
              <a:solidFill>
                <a:srgbClr val="F4F6FB"/>
              </a:solidFill>
              <a:prstDash val="solid"/>
              <a:round/>
            </a:ln>
          </a:top>
          <a:bottom>
            <a:ln w="12700" cap="flat">
              <a:solidFill>
                <a:srgbClr val="F4F6FB"/>
              </a:solidFill>
              <a:prstDash val="solid"/>
              <a:round/>
            </a:ln>
          </a:bottom>
          <a:insideH>
            <a:ln w="12700" cap="flat">
              <a:solidFill>
                <a:srgbClr val="F4F6FB"/>
              </a:solidFill>
              <a:prstDash val="solid"/>
              <a:round/>
            </a:ln>
          </a:insideH>
          <a:insideV>
            <a:ln w="12700" cap="flat">
              <a:solidFill>
                <a:srgbClr val="F4F6FB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4F6FB"/>
        </a:fontRef>
        <a:srgbClr val="F4F6FB"/>
      </a:tcTxStyle>
      <a:tcStyle>
        <a:tcBdr>
          <a:left>
            <a:ln w="12700" cap="flat">
              <a:solidFill>
                <a:srgbClr val="F4F6FB"/>
              </a:solidFill>
              <a:prstDash val="solid"/>
              <a:round/>
            </a:ln>
          </a:left>
          <a:right>
            <a:ln w="12700" cap="flat">
              <a:solidFill>
                <a:srgbClr val="F4F6FB"/>
              </a:solidFill>
              <a:prstDash val="solid"/>
              <a:round/>
            </a:ln>
          </a:right>
          <a:top>
            <a:ln w="12700" cap="flat">
              <a:solidFill>
                <a:srgbClr val="F4F6FB"/>
              </a:solidFill>
              <a:prstDash val="solid"/>
              <a:round/>
            </a:ln>
          </a:top>
          <a:bottom>
            <a:ln w="38100" cap="flat">
              <a:solidFill>
                <a:srgbClr val="F4F6FB"/>
              </a:solidFill>
              <a:prstDash val="solid"/>
              <a:round/>
            </a:ln>
          </a:bottom>
          <a:insideH>
            <a:ln w="12700" cap="flat">
              <a:solidFill>
                <a:srgbClr val="F4F6FB"/>
              </a:solidFill>
              <a:prstDash val="solid"/>
              <a:round/>
            </a:ln>
          </a:insideH>
          <a:insideV>
            <a:ln w="12700" cap="flat">
              <a:solidFill>
                <a:srgbClr val="F4F6FB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A0C12"/>
        </a:fontRef>
        <a:srgbClr val="0A0C12"/>
      </a:tcTxStyle>
      <a:tcStyle>
        <a:tcBdr>
          <a:left>
            <a:ln w="12700" cap="flat">
              <a:solidFill>
                <a:srgbClr val="F4F6FB"/>
              </a:solidFill>
              <a:prstDash val="solid"/>
              <a:round/>
            </a:ln>
          </a:left>
          <a:right>
            <a:ln w="12700" cap="flat">
              <a:solidFill>
                <a:srgbClr val="F4F6FB"/>
              </a:solidFill>
              <a:prstDash val="solid"/>
              <a:round/>
            </a:ln>
          </a:right>
          <a:top>
            <a:ln w="12700" cap="flat">
              <a:solidFill>
                <a:srgbClr val="F4F6FB"/>
              </a:solidFill>
              <a:prstDash val="solid"/>
              <a:round/>
            </a:ln>
          </a:top>
          <a:bottom>
            <a:ln w="12700" cap="flat">
              <a:solidFill>
                <a:srgbClr val="F4F6FB"/>
              </a:solidFill>
              <a:prstDash val="solid"/>
              <a:round/>
            </a:ln>
          </a:bottom>
          <a:insideH>
            <a:ln w="12700" cap="flat">
              <a:solidFill>
                <a:srgbClr val="F4F6FB"/>
              </a:solidFill>
              <a:prstDash val="solid"/>
              <a:round/>
            </a:ln>
          </a:insideH>
          <a:insideV>
            <a:ln w="12700" cap="flat">
              <a:solidFill>
                <a:srgbClr val="F4F6FB"/>
              </a:solidFill>
              <a:prstDash val="solid"/>
              <a:round/>
            </a:ln>
          </a:insideV>
        </a:tcBdr>
        <a:fill>
          <a:solidFill>
            <a:srgbClr val="CBD0CD"/>
          </a:solidFill>
        </a:fill>
      </a:tcStyle>
    </a:wholeTbl>
    <a:band2H>
      <a:tcTxStyle b="def" i="def"/>
      <a:tcStyle>
        <a:tcBdr/>
        <a:fill>
          <a:solidFill>
            <a:srgbClr val="E7E9E8"/>
          </a:solidFill>
        </a:fill>
      </a:tcStyle>
    </a:band2H>
    <a:firstCol>
      <a:tcTxStyle b="on" i="off">
        <a:fontRef idx="major">
          <a:srgbClr val="F4F6FB"/>
        </a:fontRef>
        <a:srgbClr val="F4F6FB"/>
      </a:tcTxStyle>
      <a:tcStyle>
        <a:tcBdr>
          <a:left>
            <a:ln w="12700" cap="flat">
              <a:solidFill>
                <a:srgbClr val="F4F6FB"/>
              </a:solidFill>
              <a:prstDash val="solid"/>
              <a:round/>
            </a:ln>
          </a:left>
          <a:right>
            <a:ln w="12700" cap="flat">
              <a:solidFill>
                <a:srgbClr val="F4F6FB"/>
              </a:solidFill>
              <a:prstDash val="solid"/>
              <a:round/>
            </a:ln>
          </a:right>
          <a:top>
            <a:ln w="12700" cap="flat">
              <a:solidFill>
                <a:srgbClr val="F4F6FB"/>
              </a:solidFill>
              <a:prstDash val="solid"/>
              <a:round/>
            </a:ln>
          </a:top>
          <a:bottom>
            <a:ln w="12700" cap="flat">
              <a:solidFill>
                <a:srgbClr val="F4F6FB"/>
              </a:solidFill>
              <a:prstDash val="solid"/>
              <a:round/>
            </a:ln>
          </a:bottom>
          <a:insideH>
            <a:ln w="12700" cap="flat">
              <a:solidFill>
                <a:srgbClr val="F4F6FB"/>
              </a:solidFill>
              <a:prstDash val="solid"/>
              <a:round/>
            </a:ln>
          </a:insideH>
          <a:insideV>
            <a:ln w="12700" cap="flat">
              <a:solidFill>
                <a:srgbClr val="F4F6FB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4F6FB"/>
        </a:fontRef>
        <a:srgbClr val="F4F6FB"/>
      </a:tcTxStyle>
      <a:tcStyle>
        <a:tcBdr>
          <a:left>
            <a:ln w="12700" cap="flat">
              <a:solidFill>
                <a:srgbClr val="F4F6FB"/>
              </a:solidFill>
              <a:prstDash val="solid"/>
              <a:round/>
            </a:ln>
          </a:left>
          <a:right>
            <a:ln w="12700" cap="flat">
              <a:solidFill>
                <a:srgbClr val="F4F6FB"/>
              </a:solidFill>
              <a:prstDash val="solid"/>
              <a:round/>
            </a:ln>
          </a:right>
          <a:top>
            <a:ln w="38100" cap="flat">
              <a:solidFill>
                <a:srgbClr val="F4F6FB"/>
              </a:solidFill>
              <a:prstDash val="solid"/>
              <a:round/>
            </a:ln>
          </a:top>
          <a:bottom>
            <a:ln w="12700" cap="flat">
              <a:solidFill>
                <a:srgbClr val="F4F6FB"/>
              </a:solidFill>
              <a:prstDash val="solid"/>
              <a:round/>
            </a:ln>
          </a:bottom>
          <a:insideH>
            <a:ln w="12700" cap="flat">
              <a:solidFill>
                <a:srgbClr val="F4F6FB"/>
              </a:solidFill>
              <a:prstDash val="solid"/>
              <a:round/>
            </a:ln>
          </a:insideH>
          <a:insideV>
            <a:ln w="12700" cap="flat">
              <a:solidFill>
                <a:srgbClr val="F4F6FB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4F6FB"/>
        </a:fontRef>
        <a:srgbClr val="F4F6FB"/>
      </a:tcTxStyle>
      <a:tcStyle>
        <a:tcBdr>
          <a:left>
            <a:ln w="12700" cap="flat">
              <a:solidFill>
                <a:srgbClr val="F4F6FB"/>
              </a:solidFill>
              <a:prstDash val="solid"/>
              <a:round/>
            </a:ln>
          </a:left>
          <a:right>
            <a:ln w="12700" cap="flat">
              <a:solidFill>
                <a:srgbClr val="F4F6FB"/>
              </a:solidFill>
              <a:prstDash val="solid"/>
              <a:round/>
            </a:ln>
          </a:right>
          <a:top>
            <a:ln w="12700" cap="flat">
              <a:solidFill>
                <a:srgbClr val="F4F6FB"/>
              </a:solidFill>
              <a:prstDash val="solid"/>
              <a:round/>
            </a:ln>
          </a:top>
          <a:bottom>
            <a:ln w="38100" cap="flat">
              <a:solidFill>
                <a:srgbClr val="F4F6FB"/>
              </a:solidFill>
              <a:prstDash val="solid"/>
              <a:round/>
            </a:ln>
          </a:bottom>
          <a:insideH>
            <a:ln w="12700" cap="flat">
              <a:solidFill>
                <a:srgbClr val="F4F6FB"/>
              </a:solidFill>
              <a:prstDash val="solid"/>
              <a:round/>
            </a:ln>
          </a:insideH>
          <a:insideV>
            <a:ln w="12700" cap="flat">
              <a:solidFill>
                <a:srgbClr val="F4F6FB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A0C12"/>
        </a:fontRef>
        <a:srgbClr val="0A0C1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4F6FB"/>
          </a:solidFill>
        </a:fill>
      </a:tcStyle>
    </a:band2H>
    <a:firstCol>
      <a:tcTxStyle b="on" i="off">
        <a:fontRef idx="major">
          <a:srgbClr val="F4F6FB"/>
        </a:fontRef>
        <a:srgbClr val="F4F6F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A0C12"/>
        </a:fontRef>
        <a:srgbClr val="0A0C1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A0C12"/>
              </a:solidFill>
              <a:prstDash val="solid"/>
              <a:round/>
            </a:ln>
          </a:top>
          <a:bottom>
            <a:ln w="25400" cap="flat">
              <a:solidFill>
                <a:srgbClr val="0A0C1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4F6FB"/>
          </a:solidFill>
        </a:fill>
      </a:tcStyle>
    </a:lastRow>
    <a:firstRow>
      <a:tcTxStyle b="on" i="off">
        <a:fontRef idx="major">
          <a:srgbClr val="F4F6FB"/>
        </a:fontRef>
        <a:srgbClr val="F4F6F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A0C12"/>
              </a:solidFill>
              <a:prstDash val="solid"/>
              <a:round/>
            </a:ln>
          </a:top>
          <a:bottom>
            <a:ln w="25400" cap="flat">
              <a:solidFill>
                <a:srgbClr val="0A0C1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A0C12"/>
        </a:fontRef>
        <a:srgbClr val="0A0C12"/>
      </a:tcTxStyle>
      <a:tcStyle>
        <a:tcBdr>
          <a:left>
            <a:ln w="12700" cap="flat">
              <a:solidFill>
                <a:srgbClr val="F4F6FB"/>
              </a:solidFill>
              <a:prstDash val="solid"/>
              <a:round/>
            </a:ln>
          </a:left>
          <a:right>
            <a:ln w="12700" cap="flat">
              <a:solidFill>
                <a:srgbClr val="F4F6FB"/>
              </a:solidFill>
              <a:prstDash val="solid"/>
              <a:round/>
            </a:ln>
          </a:right>
          <a:top>
            <a:ln w="12700" cap="flat">
              <a:solidFill>
                <a:srgbClr val="F4F6FB"/>
              </a:solidFill>
              <a:prstDash val="solid"/>
              <a:round/>
            </a:ln>
          </a:top>
          <a:bottom>
            <a:ln w="12700" cap="flat">
              <a:solidFill>
                <a:srgbClr val="F4F6FB"/>
              </a:solidFill>
              <a:prstDash val="solid"/>
              <a:round/>
            </a:ln>
          </a:bottom>
          <a:insideH>
            <a:ln w="12700" cap="flat">
              <a:solidFill>
                <a:srgbClr val="F4F6FB"/>
              </a:solidFill>
              <a:prstDash val="solid"/>
              <a:round/>
            </a:ln>
          </a:insideH>
          <a:insideV>
            <a:ln w="12700" cap="flat">
              <a:solidFill>
                <a:srgbClr val="F4F6FB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4F6FB"/>
        </a:fontRef>
        <a:srgbClr val="F4F6FB"/>
      </a:tcTxStyle>
      <a:tcStyle>
        <a:tcBdr>
          <a:left>
            <a:ln w="12700" cap="flat">
              <a:solidFill>
                <a:srgbClr val="F4F6FB"/>
              </a:solidFill>
              <a:prstDash val="solid"/>
              <a:round/>
            </a:ln>
          </a:left>
          <a:right>
            <a:ln w="12700" cap="flat">
              <a:solidFill>
                <a:srgbClr val="F4F6FB"/>
              </a:solidFill>
              <a:prstDash val="solid"/>
              <a:round/>
            </a:ln>
          </a:right>
          <a:top>
            <a:ln w="12700" cap="flat">
              <a:solidFill>
                <a:srgbClr val="F4F6FB"/>
              </a:solidFill>
              <a:prstDash val="solid"/>
              <a:round/>
            </a:ln>
          </a:top>
          <a:bottom>
            <a:ln w="12700" cap="flat">
              <a:solidFill>
                <a:srgbClr val="F4F6FB"/>
              </a:solidFill>
              <a:prstDash val="solid"/>
              <a:round/>
            </a:ln>
          </a:bottom>
          <a:insideH>
            <a:ln w="12700" cap="flat">
              <a:solidFill>
                <a:srgbClr val="F4F6FB"/>
              </a:solidFill>
              <a:prstDash val="solid"/>
              <a:round/>
            </a:ln>
          </a:insideH>
          <a:insideV>
            <a:ln w="12700" cap="flat">
              <a:solidFill>
                <a:srgbClr val="F4F6FB"/>
              </a:solidFill>
              <a:prstDash val="solid"/>
              <a:round/>
            </a:ln>
          </a:insideV>
        </a:tcBdr>
        <a:fill>
          <a:solidFill>
            <a:srgbClr val="0A0C12"/>
          </a:solidFill>
        </a:fill>
      </a:tcStyle>
    </a:firstCol>
    <a:lastRow>
      <a:tcTxStyle b="on" i="off">
        <a:fontRef idx="major">
          <a:srgbClr val="F4F6FB"/>
        </a:fontRef>
        <a:srgbClr val="F4F6FB"/>
      </a:tcTxStyle>
      <a:tcStyle>
        <a:tcBdr>
          <a:left>
            <a:ln w="12700" cap="flat">
              <a:solidFill>
                <a:srgbClr val="F4F6FB"/>
              </a:solidFill>
              <a:prstDash val="solid"/>
              <a:round/>
            </a:ln>
          </a:left>
          <a:right>
            <a:ln w="12700" cap="flat">
              <a:solidFill>
                <a:srgbClr val="F4F6FB"/>
              </a:solidFill>
              <a:prstDash val="solid"/>
              <a:round/>
            </a:ln>
          </a:right>
          <a:top>
            <a:ln w="38100" cap="flat">
              <a:solidFill>
                <a:srgbClr val="F4F6FB"/>
              </a:solidFill>
              <a:prstDash val="solid"/>
              <a:round/>
            </a:ln>
          </a:top>
          <a:bottom>
            <a:ln w="12700" cap="flat">
              <a:solidFill>
                <a:srgbClr val="F4F6FB"/>
              </a:solidFill>
              <a:prstDash val="solid"/>
              <a:round/>
            </a:ln>
          </a:bottom>
          <a:insideH>
            <a:ln w="12700" cap="flat">
              <a:solidFill>
                <a:srgbClr val="F4F6FB"/>
              </a:solidFill>
              <a:prstDash val="solid"/>
              <a:round/>
            </a:ln>
          </a:insideH>
          <a:insideV>
            <a:ln w="12700" cap="flat">
              <a:solidFill>
                <a:srgbClr val="F4F6FB"/>
              </a:solidFill>
              <a:prstDash val="solid"/>
              <a:round/>
            </a:ln>
          </a:insideV>
        </a:tcBdr>
        <a:fill>
          <a:solidFill>
            <a:srgbClr val="0A0C12"/>
          </a:solidFill>
        </a:fill>
      </a:tcStyle>
    </a:lastRow>
    <a:firstRow>
      <a:tcTxStyle b="on" i="off">
        <a:fontRef idx="major">
          <a:srgbClr val="F4F6FB"/>
        </a:fontRef>
        <a:srgbClr val="F4F6FB"/>
      </a:tcTxStyle>
      <a:tcStyle>
        <a:tcBdr>
          <a:left>
            <a:ln w="12700" cap="flat">
              <a:solidFill>
                <a:srgbClr val="F4F6FB"/>
              </a:solidFill>
              <a:prstDash val="solid"/>
              <a:round/>
            </a:ln>
          </a:left>
          <a:right>
            <a:ln w="12700" cap="flat">
              <a:solidFill>
                <a:srgbClr val="F4F6FB"/>
              </a:solidFill>
              <a:prstDash val="solid"/>
              <a:round/>
            </a:ln>
          </a:right>
          <a:top>
            <a:ln w="12700" cap="flat">
              <a:solidFill>
                <a:srgbClr val="F4F6FB"/>
              </a:solidFill>
              <a:prstDash val="solid"/>
              <a:round/>
            </a:ln>
          </a:top>
          <a:bottom>
            <a:ln w="38100" cap="flat">
              <a:solidFill>
                <a:srgbClr val="F4F6FB"/>
              </a:solidFill>
              <a:prstDash val="solid"/>
              <a:round/>
            </a:ln>
          </a:bottom>
          <a:insideH>
            <a:ln w="12700" cap="flat">
              <a:solidFill>
                <a:srgbClr val="F4F6FB"/>
              </a:solidFill>
              <a:prstDash val="solid"/>
              <a:round/>
            </a:ln>
          </a:insideH>
          <a:insideV>
            <a:ln w="12700" cap="flat">
              <a:solidFill>
                <a:srgbClr val="F4F6FB"/>
              </a:solidFill>
              <a:prstDash val="solid"/>
              <a:round/>
            </a:ln>
          </a:insideV>
        </a:tcBdr>
        <a:fill>
          <a:solidFill>
            <a:srgbClr val="0A0C12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A0C12"/>
        </a:fontRef>
        <a:srgbClr val="0A0C12"/>
      </a:tcTxStyle>
      <a:tcStyle>
        <a:tcBdr>
          <a:left>
            <a:ln w="12700" cap="flat">
              <a:solidFill>
                <a:srgbClr val="0A0C12"/>
              </a:solidFill>
              <a:prstDash val="solid"/>
              <a:round/>
            </a:ln>
          </a:left>
          <a:right>
            <a:ln w="12700" cap="flat">
              <a:solidFill>
                <a:srgbClr val="0A0C12"/>
              </a:solidFill>
              <a:prstDash val="solid"/>
              <a:round/>
            </a:ln>
          </a:right>
          <a:top>
            <a:ln w="12700" cap="flat">
              <a:solidFill>
                <a:srgbClr val="0A0C12"/>
              </a:solidFill>
              <a:prstDash val="solid"/>
              <a:round/>
            </a:ln>
          </a:top>
          <a:bottom>
            <a:ln w="12700" cap="flat">
              <a:solidFill>
                <a:srgbClr val="0A0C12"/>
              </a:solidFill>
              <a:prstDash val="solid"/>
              <a:round/>
            </a:ln>
          </a:bottom>
          <a:insideH>
            <a:ln w="12700" cap="flat">
              <a:solidFill>
                <a:srgbClr val="0A0C12"/>
              </a:solidFill>
              <a:prstDash val="solid"/>
              <a:round/>
            </a:ln>
          </a:insideH>
          <a:insideV>
            <a:ln w="12700" cap="flat">
              <a:solidFill>
                <a:srgbClr val="0A0C12"/>
              </a:solidFill>
              <a:prstDash val="solid"/>
              <a:round/>
            </a:ln>
          </a:insideV>
        </a:tcBdr>
        <a:fill>
          <a:solidFill>
            <a:srgbClr val="0A0C12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A0C12"/>
        </a:fontRef>
        <a:srgbClr val="0A0C12"/>
      </a:tcTxStyle>
      <a:tcStyle>
        <a:tcBdr>
          <a:left>
            <a:ln w="12700" cap="flat">
              <a:solidFill>
                <a:srgbClr val="0A0C12"/>
              </a:solidFill>
              <a:prstDash val="solid"/>
              <a:round/>
            </a:ln>
          </a:left>
          <a:right>
            <a:ln w="12700" cap="flat">
              <a:solidFill>
                <a:srgbClr val="0A0C12"/>
              </a:solidFill>
              <a:prstDash val="solid"/>
              <a:round/>
            </a:ln>
          </a:right>
          <a:top>
            <a:ln w="12700" cap="flat">
              <a:solidFill>
                <a:srgbClr val="0A0C12"/>
              </a:solidFill>
              <a:prstDash val="solid"/>
              <a:round/>
            </a:ln>
          </a:top>
          <a:bottom>
            <a:ln w="12700" cap="flat">
              <a:solidFill>
                <a:srgbClr val="0A0C12"/>
              </a:solidFill>
              <a:prstDash val="solid"/>
              <a:round/>
            </a:ln>
          </a:bottom>
          <a:insideH>
            <a:ln w="12700" cap="flat">
              <a:solidFill>
                <a:srgbClr val="0A0C12"/>
              </a:solidFill>
              <a:prstDash val="solid"/>
              <a:round/>
            </a:ln>
          </a:insideH>
          <a:insideV>
            <a:ln w="12700" cap="flat">
              <a:solidFill>
                <a:srgbClr val="0A0C12"/>
              </a:solidFill>
              <a:prstDash val="solid"/>
              <a:round/>
            </a:ln>
          </a:insideV>
        </a:tcBdr>
        <a:fill>
          <a:solidFill>
            <a:srgbClr val="0A0C12">
              <a:alpha val="20000"/>
            </a:srgbClr>
          </a:solidFill>
        </a:fill>
      </a:tcStyle>
    </a:firstCol>
    <a:lastRow>
      <a:tcTxStyle b="on" i="off">
        <a:fontRef idx="major">
          <a:srgbClr val="0A0C12"/>
        </a:fontRef>
        <a:srgbClr val="0A0C12"/>
      </a:tcTxStyle>
      <a:tcStyle>
        <a:tcBdr>
          <a:left>
            <a:ln w="12700" cap="flat">
              <a:solidFill>
                <a:srgbClr val="0A0C12"/>
              </a:solidFill>
              <a:prstDash val="solid"/>
              <a:round/>
            </a:ln>
          </a:left>
          <a:right>
            <a:ln w="12700" cap="flat">
              <a:solidFill>
                <a:srgbClr val="0A0C12"/>
              </a:solidFill>
              <a:prstDash val="solid"/>
              <a:round/>
            </a:ln>
          </a:right>
          <a:top>
            <a:ln w="50800" cap="flat">
              <a:solidFill>
                <a:srgbClr val="0A0C12"/>
              </a:solidFill>
              <a:prstDash val="solid"/>
              <a:round/>
            </a:ln>
          </a:top>
          <a:bottom>
            <a:ln w="12700" cap="flat">
              <a:solidFill>
                <a:srgbClr val="0A0C12"/>
              </a:solidFill>
              <a:prstDash val="solid"/>
              <a:round/>
            </a:ln>
          </a:bottom>
          <a:insideH>
            <a:ln w="12700" cap="flat">
              <a:solidFill>
                <a:srgbClr val="0A0C12"/>
              </a:solidFill>
              <a:prstDash val="solid"/>
              <a:round/>
            </a:ln>
          </a:insideH>
          <a:insideV>
            <a:ln w="12700" cap="flat">
              <a:solidFill>
                <a:srgbClr val="0A0C1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A0C12"/>
        </a:fontRef>
        <a:srgbClr val="0A0C12"/>
      </a:tcTxStyle>
      <a:tcStyle>
        <a:tcBdr>
          <a:left>
            <a:ln w="12700" cap="flat">
              <a:solidFill>
                <a:srgbClr val="0A0C12"/>
              </a:solidFill>
              <a:prstDash val="solid"/>
              <a:round/>
            </a:ln>
          </a:left>
          <a:right>
            <a:ln w="12700" cap="flat">
              <a:solidFill>
                <a:srgbClr val="0A0C12"/>
              </a:solidFill>
              <a:prstDash val="solid"/>
              <a:round/>
            </a:ln>
          </a:right>
          <a:top>
            <a:ln w="12700" cap="flat">
              <a:solidFill>
                <a:srgbClr val="0A0C12"/>
              </a:solidFill>
              <a:prstDash val="solid"/>
              <a:round/>
            </a:ln>
          </a:top>
          <a:bottom>
            <a:ln w="25400" cap="flat">
              <a:solidFill>
                <a:srgbClr val="0A0C12"/>
              </a:solidFill>
              <a:prstDash val="solid"/>
              <a:round/>
            </a:ln>
          </a:bottom>
          <a:insideH>
            <a:ln w="12700" cap="flat">
              <a:solidFill>
                <a:srgbClr val="0A0C12"/>
              </a:solidFill>
              <a:prstDash val="solid"/>
              <a:round/>
            </a:ln>
          </a:insideH>
          <a:insideV>
            <a:ln w="12700" cap="flat">
              <a:solidFill>
                <a:srgbClr val="0A0C1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" name="Shape 2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solidFill>
          <a:srgbClr val="0A0C12"/>
        </a:solidFill>
        <a:latin typeface="+mj-lt"/>
        <a:ea typeface="+mj-ea"/>
        <a:cs typeface="+mj-cs"/>
        <a:sym typeface="Calibri"/>
      </a:defRPr>
    </a:lvl1pPr>
    <a:lvl2pPr indent="228600" latinLnBrk="0">
      <a:defRPr sz="1200">
        <a:solidFill>
          <a:srgbClr val="0A0C12"/>
        </a:solidFill>
        <a:latin typeface="+mj-lt"/>
        <a:ea typeface="+mj-ea"/>
        <a:cs typeface="+mj-cs"/>
        <a:sym typeface="Calibri"/>
      </a:defRPr>
    </a:lvl2pPr>
    <a:lvl3pPr indent="457200" latinLnBrk="0">
      <a:defRPr sz="1200">
        <a:solidFill>
          <a:srgbClr val="0A0C12"/>
        </a:solidFill>
        <a:latin typeface="+mj-lt"/>
        <a:ea typeface="+mj-ea"/>
        <a:cs typeface="+mj-cs"/>
        <a:sym typeface="Calibri"/>
      </a:defRPr>
    </a:lvl3pPr>
    <a:lvl4pPr indent="685800" latinLnBrk="0">
      <a:defRPr sz="1200">
        <a:solidFill>
          <a:srgbClr val="0A0C12"/>
        </a:solidFill>
        <a:latin typeface="+mj-lt"/>
        <a:ea typeface="+mj-ea"/>
        <a:cs typeface="+mj-cs"/>
        <a:sym typeface="Calibri"/>
      </a:defRPr>
    </a:lvl4pPr>
    <a:lvl5pPr indent="914400" latinLnBrk="0">
      <a:defRPr sz="1200">
        <a:solidFill>
          <a:srgbClr val="0A0C12"/>
        </a:solidFill>
        <a:latin typeface="+mj-lt"/>
        <a:ea typeface="+mj-ea"/>
        <a:cs typeface="+mj-cs"/>
        <a:sym typeface="Calibri"/>
      </a:defRPr>
    </a:lvl5pPr>
    <a:lvl6pPr indent="1143000" latinLnBrk="0">
      <a:defRPr sz="1200">
        <a:solidFill>
          <a:srgbClr val="0A0C12"/>
        </a:solidFill>
        <a:latin typeface="+mj-lt"/>
        <a:ea typeface="+mj-ea"/>
        <a:cs typeface="+mj-cs"/>
        <a:sym typeface="Calibri"/>
      </a:defRPr>
    </a:lvl6pPr>
    <a:lvl7pPr indent="1371600" latinLnBrk="0">
      <a:defRPr sz="1200">
        <a:solidFill>
          <a:srgbClr val="0A0C12"/>
        </a:solidFill>
        <a:latin typeface="+mj-lt"/>
        <a:ea typeface="+mj-ea"/>
        <a:cs typeface="+mj-cs"/>
        <a:sym typeface="Calibri"/>
      </a:defRPr>
    </a:lvl7pPr>
    <a:lvl8pPr indent="1600200" latinLnBrk="0">
      <a:defRPr sz="1200">
        <a:solidFill>
          <a:srgbClr val="0A0C12"/>
        </a:solidFill>
        <a:latin typeface="+mj-lt"/>
        <a:ea typeface="+mj-ea"/>
        <a:cs typeface="+mj-cs"/>
        <a:sym typeface="Calibri"/>
      </a:defRPr>
    </a:lvl8pPr>
    <a:lvl9pPr indent="1828800" latinLnBrk="0">
      <a:defRPr sz="1200">
        <a:solidFill>
          <a:srgbClr val="0A0C12"/>
        </a:solidFill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ARK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lick to add title"/>
          <p:cNvSpPr txBox="1"/>
          <p:nvPr>
            <p:ph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>
              <a:defRPr b="1" sz="2400">
                <a:solidFill>
                  <a:srgbClr val="F4F6FB"/>
                </a:solidFill>
              </a:defRPr>
            </a:lvl1pPr>
          </a:lstStyle>
          <a:p>
            <a:pPr/>
            <a:r>
              <a:t>Click to add title</a:t>
            </a:r>
          </a:p>
        </p:txBody>
      </p:sp>
      <p:sp>
        <p:nvSpPr>
          <p:cNvPr id="19" name="Slide Number"/>
          <p:cNvSpPr txBox="1"/>
          <p:nvPr>
            <p:ph type="sldNum" sz="quarter" idx="2"/>
          </p:nvPr>
        </p:nvSpPr>
        <p:spPr>
          <a:xfrm>
            <a:off x="8229600" y="4828032"/>
            <a:ext cx="207130" cy="19601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553200" y="47672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4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A0C12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A0C12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A0C12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A0C12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A0C12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A0C12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A0C12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A0C12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A0C12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A0C12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A0C12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A0C12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A0C12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A0C12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A0C12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A0C12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A0C12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A0C12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1"/>
          <p:cNvSpPr txBox="1"/>
          <p:nvPr/>
        </p:nvSpPr>
        <p:spPr>
          <a:xfrm>
            <a:off x="461962" y="1079304"/>
            <a:ext cx="8229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/>
            <a:r>
              <a:t>Users change their minds mid-sentence. Tools don’t wait.</a:t>
            </a:r>
          </a:p>
        </p:txBody>
      </p:sp>
      <p:sp>
        <p:nvSpPr>
          <p:cNvPr id="29" name="Shape 2"/>
          <p:cNvSpPr/>
          <p:nvPr/>
        </p:nvSpPr>
        <p:spPr>
          <a:xfrm>
            <a:off x="461962" y="1600512"/>
            <a:ext cx="4023361" cy="1325881"/>
          </a:xfrm>
          <a:prstGeom prst="roundRect">
            <a:avLst>
              <a:gd name="adj" fmla="val 8276"/>
            </a:avLst>
          </a:prstGeom>
          <a:solidFill>
            <a:srgbClr val="131722"/>
          </a:solidFill>
          <a:ln w="1905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Text 3"/>
          <p:cNvSpPr txBox="1"/>
          <p:nvPr/>
        </p:nvSpPr>
        <p:spPr>
          <a:xfrm>
            <a:off x="644842" y="1996578"/>
            <a:ext cx="3657601" cy="533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>
                <a:solidFill>
                  <a:srgbClr val="F4F6FB"/>
                </a:solidFill>
              </a:defRPr>
            </a:pPr>
            <a:r>
              <a:t>“Book a flight to Paris on the tenth…</a:t>
            </a:r>
          </a:p>
          <a:p>
            <a:pPr>
              <a:defRPr b="1">
                <a:solidFill>
                  <a:schemeClr val="accent1"/>
                </a:solidFill>
              </a:defRPr>
            </a:pPr>
            <a:r>
              <a:t>no wait, make that Delhi.”</a:t>
            </a:r>
          </a:p>
        </p:txBody>
      </p:sp>
      <p:grpSp>
        <p:nvGrpSpPr>
          <p:cNvPr id="33" name="Text 4"/>
          <p:cNvGrpSpPr/>
          <p:nvPr/>
        </p:nvGrpSpPr>
        <p:grpSpPr>
          <a:xfrm>
            <a:off x="4851082" y="1554792"/>
            <a:ext cx="3840481" cy="310897"/>
            <a:chOff x="0" y="0"/>
            <a:chExt cx="3840479" cy="310895"/>
          </a:xfrm>
        </p:grpSpPr>
        <p:sp>
          <p:nvSpPr>
            <p:cNvPr id="31" name="Rounded Rectangle"/>
            <p:cNvSpPr/>
            <p:nvPr/>
          </p:nvSpPr>
          <p:spPr>
            <a:xfrm>
              <a:off x="0" y="0"/>
              <a:ext cx="3840480" cy="310896"/>
            </a:xfrm>
            <a:prstGeom prst="roundRect">
              <a:avLst>
                <a:gd name="adj" fmla="val 29412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32" name="User says Paris"/>
            <p:cNvSpPr txBox="1"/>
            <p:nvPr/>
          </p:nvSpPr>
          <p:spPr>
            <a:xfrm>
              <a:off x="33131" y="87806"/>
              <a:ext cx="3774218" cy="1352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1100">
                  <a:solidFill>
                    <a:srgbClr val="F4F6FB"/>
                  </a:solidFill>
                </a:defRPr>
              </a:lvl1pPr>
            </a:lstStyle>
            <a:p>
              <a:pPr/>
              <a:r>
                <a:t>User says Paris</a:t>
              </a:r>
            </a:p>
          </p:txBody>
        </p:sp>
      </p:grpSp>
      <p:sp>
        <p:nvSpPr>
          <p:cNvPr id="34" name="Text 5"/>
          <p:cNvSpPr txBox="1"/>
          <p:nvPr/>
        </p:nvSpPr>
        <p:spPr>
          <a:xfrm>
            <a:off x="4851082" y="1856544"/>
            <a:ext cx="3840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pPr/>
            <a:r>
              <a:t>↓</a:t>
            </a:r>
          </a:p>
        </p:txBody>
      </p:sp>
      <p:grpSp>
        <p:nvGrpSpPr>
          <p:cNvPr id="37" name="Text 6"/>
          <p:cNvGrpSpPr/>
          <p:nvPr/>
        </p:nvGrpSpPr>
        <p:grpSpPr>
          <a:xfrm>
            <a:off x="4851082" y="1993704"/>
            <a:ext cx="3840481" cy="310897"/>
            <a:chOff x="0" y="0"/>
            <a:chExt cx="3840479" cy="310895"/>
          </a:xfrm>
        </p:grpSpPr>
        <p:sp>
          <p:nvSpPr>
            <p:cNvPr id="35" name="Rounded Rectangle"/>
            <p:cNvSpPr/>
            <p:nvPr/>
          </p:nvSpPr>
          <p:spPr>
            <a:xfrm>
              <a:off x="0" y="0"/>
              <a:ext cx="3840480" cy="310896"/>
            </a:xfrm>
            <a:prstGeom prst="roundRect">
              <a:avLst>
                <a:gd name="adj" fmla="val 29412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36" name="LLM proposes Paris"/>
            <p:cNvSpPr txBox="1"/>
            <p:nvPr/>
          </p:nvSpPr>
          <p:spPr>
            <a:xfrm>
              <a:off x="33131" y="87806"/>
              <a:ext cx="3774218" cy="1352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1100">
                  <a:solidFill>
                    <a:srgbClr val="F4F6FB"/>
                  </a:solidFill>
                </a:defRPr>
              </a:lvl1pPr>
            </a:lstStyle>
            <a:p>
              <a:pPr/>
              <a:r>
                <a:t>LLM proposes Paris</a:t>
              </a:r>
            </a:p>
          </p:txBody>
        </p:sp>
      </p:grpSp>
      <p:sp>
        <p:nvSpPr>
          <p:cNvPr id="38" name="Text 7"/>
          <p:cNvSpPr txBox="1"/>
          <p:nvPr/>
        </p:nvSpPr>
        <p:spPr>
          <a:xfrm>
            <a:off x="4851082" y="2295456"/>
            <a:ext cx="3840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pPr/>
            <a:r>
              <a:t>↓</a:t>
            </a:r>
          </a:p>
        </p:txBody>
      </p:sp>
      <p:grpSp>
        <p:nvGrpSpPr>
          <p:cNvPr id="41" name="Text 8"/>
          <p:cNvGrpSpPr/>
          <p:nvPr/>
        </p:nvGrpSpPr>
        <p:grpSpPr>
          <a:xfrm>
            <a:off x="4851082" y="2432616"/>
            <a:ext cx="3840481" cy="310897"/>
            <a:chOff x="0" y="0"/>
            <a:chExt cx="3840479" cy="310895"/>
          </a:xfrm>
        </p:grpSpPr>
        <p:sp>
          <p:nvSpPr>
            <p:cNvPr id="39" name="Rounded Rectangle"/>
            <p:cNvSpPr/>
            <p:nvPr/>
          </p:nvSpPr>
          <p:spPr>
            <a:xfrm>
              <a:off x="0" y="0"/>
              <a:ext cx="3840480" cy="310896"/>
            </a:xfrm>
            <a:prstGeom prst="roundRect">
              <a:avLst>
                <a:gd name="adj" fmla="val 29412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40" name="Paris tool call starts"/>
            <p:cNvSpPr txBox="1"/>
            <p:nvPr/>
          </p:nvSpPr>
          <p:spPr>
            <a:xfrm>
              <a:off x="33131" y="87806"/>
              <a:ext cx="3774218" cy="1352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1100">
                  <a:solidFill>
                    <a:srgbClr val="F4F6FB"/>
                  </a:solidFill>
                </a:defRPr>
              </a:lvl1pPr>
            </a:lstStyle>
            <a:p>
              <a:pPr/>
              <a:r>
                <a:t>Paris tool call starts</a:t>
              </a:r>
            </a:p>
          </p:txBody>
        </p:sp>
      </p:grpSp>
      <p:sp>
        <p:nvSpPr>
          <p:cNvPr id="42" name="Text 9"/>
          <p:cNvSpPr txBox="1"/>
          <p:nvPr/>
        </p:nvSpPr>
        <p:spPr>
          <a:xfrm>
            <a:off x="4851082" y="2734368"/>
            <a:ext cx="3840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pPr/>
            <a:r>
              <a:t>↓</a:t>
            </a:r>
          </a:p>
        </p:txBody>
      </p:sp>
      <p:grpSp>
        <p:nvGrpSpPr>
          <p:cNvPr id="45" name="Text 10"/>
          <p:cNvGrpSpPr/>
          <p:nvPr/>
        </p:nvGrpSpPr>
        <p:grpSpPr>
          <a:xfrm>
            <a:off x="4851082" y="2871528"/>
            <a:ext cx="3840481" cy="310897"/>
            <a:chOff x="0" y="0"/>
            <a:chExt cx="3840479" cy="310895"/>
          </a:xfrm>
        </p:grpSpPr>
        <p:sp>
          <p:nvSpPr>
            <p:cNvPr id="43" name="Rounded Rectangle"/>
            <p:cNvSpPr/>
            <p:nvPr/>
          </p:nvSpPr>
          <p:spPr>
            <a:xfrm>
              <a:off x="0" y="0"/>
              <a:ext cx="3840480" cy="310896"/>
            </a:xfrm>
            <a:prstGeom prst="roundRect">
              <a:avLst>
                <a:gd name="adj" fmla="val 29412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44" name="User corrects to Berlin"/>
            <p:cNvSpPr txBox="1"/>
            <p:nvPr/>
          </p:nvSpPr>
          <p:spPr>
            <a:xfrm>
              <a:off x="33131" y="87806"/>
              <a:ext cx="3774218" cy="1352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1100">
                  <a:solidFill>
                    <a:srgbClr val="F4F6FB"/>
                  </a:solidFill>
                </a:defRPr>
              </a:lvl1pPr>
            </a:lstStyle>
            <a:p>
              <a:pPr/>
              <a:r>
                <a:t>User corrects to Delhi</a:t>
              </a:r>
            </a:p>
          </p:txBody>
        </p:sp>
      </p:grpSp>
      <p:sp>
        <p:nvSpPr>
          <p:cNvPr id="46" name="Text 11"/>
          <p:cNvSpPr txBox="1"/>
          <p:nvPr/>
        </p:nvSpPr>
        <p:spPr>
          <a:xfrm>
            <a:off x="4851082" y="3173280"/>
            <a:ext cx="3840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pPr/>
            <a:r>
              <a:t>↓</a:t>
            </a:r>
          </a:p>
        </p:txBody>
      </p:sp>
      <p:grpSp>
        <p:nvGrpSpPr>
          <p:cNvPr id="49" name="Text 12"/>
          <p:cNvGrpSpPr/>
          <p:nvPr/>
        </p:nvGrpSpPr>
        <p:grpSpPr>
          <a:xfrm>
            <a:off x="4851082" y="3310440"/>
            <a:ext cx="3840481" cy="310897"/>
            <a:chOff x="0" y="0"/>
            <a:chExt cx="3840479" cy="310895"/>
          </a:xfrm>
        </p:grpSpPr>
        <p:sp>
          <p:nvSpPr>
            <p:cNvPr id="47" name="Rounded Rectangle"/>
            <p:cNvSpPr/>
            <p:nvPr/>
          </p:nvSpPr>
          <p:spPr>
            <a:xfrm>
              <a:off x="0" y="0"/>
              <a:ext cx="3840480" cy="310896"/>
            </a:xfrm>
            <a:prstGeom prst="roundRect">
              <a:avLst>
                <a:gd name="adj" fmla="val 29412"/>
              </a:avLst>
            </a:prstGeom>
            <a:solidFill>
              <a:srgbClr val="131722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48" name="Berlin is now the correct intent"/>
            <p:cNvSpPr txBox="1"/>
            <p:nvPr/>
          </p:nvSpPr>
          <p:spPr>
            <a:xfrm>
              <a:off x="33131" y="87806"/>
              <a:ext cx="3774218" cy="1352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b="1" sz="1100">
                  <a:solidFill>
                    <a:schemeClr val="accent2"/>
                  </a:solidFill>
                </a:defRPr>
              </a:lvl1pPr>
            </a:lstStyle>
            <a:p>
              <a:pPr/>
              <a:r>
                <a:t>Delhi is now the correct intent</a:t>
              </a:r>
            </a:p>
          </p:txBody>
        </p:sp>
      </p:grpSp>
      <p:sp>
        <p:nvSpPr>
          <p:cNvPr id="50" name="Text 13"/>
          <p:cNvSpPr txBox="1"/>
          <p:nvPr/>
        </p:nvSpPr>
        <p:spPr>
          <a:xfrm>
            <a:off x="4851082" y="3612192"/>
            <a:ext cx="3840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pPr/>
            <a:r>
              <a:t>↓</a:t>
            </a:r>
          </a:p>
        </p:txBody>
      </p:sp>
      <p:grpSp>
        <p:nvGrpSpPr>
          <p:cNvPr id="53" name="Text 14"/>
          <p:cNvGrpSpPr/>
          <p:nvPr/>
        </p:nvGrpSpPr>
        <p:grpSpPr>
          <a:xfrm>
            <a:off x="4851082" y="3749352"/>
            <a:ext cx="3840481" cy="310897"/>
            <a:chOff x="0" y="0"/>
            <a:chExt cx="3840479" cy="310895"/>
          </a:xfrm>
        </p:grpSpPr>
        <p:sp>
          <p:nvSpPr>
            <p:cNvPr id="51" name="Rounded Rectangle"/>
            <p:cNvSpPr/>
            <p:nvPr/>
          </p:nvSpPr>
          <p:spPr>
            <a:xfrm>
              <a:off x="0" y="0"/>
              <a:ext cx="3840480" cy="310896"/>
            </a:xfrm>
            <a:prstGeom prst="roundRect">
              <a:avLst>
                <a:gd name="adj" fmla="val 29412"/>
              </a:avLst>
            </a:prstGeom>
            <a:solidFill>
              <a:schemeClr val="accent5"/>
            </a:solidFill>
            <a:ln w="12700" cap="flat">
              <a:solidFill>
                <a:schemeClr val="accent3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52" name="✕ But the stale Paris call already happened"/>
            <p:cNvSpPr txBox="1"/>
            <p:nvPr/>
          </p:nvSpPr>
          <p:spPr>
            <a:xfrm>
              <a:off x="33131" y="70991"/>
              <a:ext cx="3774218" cy="1689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/>
            <a:p>
              <a:pPr algn="ctr">
                <a:defRPr b="1" sz="1100">
                  <a:solidFill>
                    <a:schemeClr val="accent3"/>
                  </a:solidFill>
                </a:defRPr>
              </a:pPr>
              <a:r>
                <a:rPr>
                  <a:latin typeface="+mn-lt"/>
                  <a:ea typeface="+mn-ea"/>
                  <a:cs typeface="+mn-cs"/>
                  <a:sym typeface="Helvetica"/>
                </a:rPr>
                <a:t>✕ </a:t>
              </a:r>
              <a:r>
                <a:t>But the stale Paris call already happened</a:t>
              </a:r>
            </a:p>
          </p:txBody>
        </p:sp>
      </p:grpSp>
      <p:sp>
        <p:nvSpPr>
          <p:cNvPr id="54" name="Text 15"/>
          <p:cNvSpPr txBox="1"/>
          <p:nvPr/>
        </p:nvSpPr>
        <p:spPr>
          <a:xfrm>
            <a:off x="461962" y="3200712"/>
            <a:ext cx="4206241" cy="646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300">
                <a:solidFill>
                  <a:srgbClr val="F4F6FB"/>
                </a:solidFill>
              </a:defRPr>
            </a:pPr>
            <a:r>
              <a:t>The model is usually right.</a:t>
            </a:r>
          </a:p>
          <a:p>
            <a:pPr>
              <a:defRPr b="1" sz="2300">
                <a:solidFill>
                  <a:schemeClr val="accent1"/>
                </a:solidFill>
              </a:defRPr>
            </a:pPr>
            <a:r>
              <a:t>The timing is what’s wrong.</a:t>
            </a:r>
          </a:p>
        </p:txBody>
      </p:sp>
      <p:sp>
        <p:nvSpPr>
          <p:cNvPr id="55" name="Text 16"/>
          <p:cNvSpPr txBox="1"/>
          <p:nvPr/>
        </p:nvSpPr>
        <p:spPr>
          <a:xfrm>
            <a:off x="457199" y="4359567"/>
            <a:ext cx="8229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/>
            <a:r>
              <a:t>In Full-Duplex-Bench v3, even a stale read-only tool call can fail the scenario.</a:t>
            </a:r>
          </a:p>
        </p:txBody>
      </p:sp>
      <p:sp>
        <p:nvSpPr>
          <p:cNvPr id="56" name="Samsung Prism: 3rd Edition 2026-27"/>
          <p:cNvSpPr txBox="1"/>
          <p:nvPr/>
        </p:nvSpPr>
        <p:spPr>
          <a:xfrm>
            <a:off x="242398" y="206013"/>
            <a:ext cx="2306177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b="1" sz="1000">
                <a:solidFill>
                  <a:srgbClr val="42D3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Samsung Prism: 3rd Edition 2026-27</a:t>
            </a:r>
          </a:p>
        </p:txBody>
      </p:sp>
      <p:sp>
        <p:nvSpPr>
          <p:cNvPr id="57" name="Slide Number Placeholder 0"/>
          <p:cNvSpPr txBox="1"/>
          <p:nvPr>
            <p:ph type="sldNum" sz="quarter" idx="4294967295"/>
          </p:nvPr>
        </p:nvSpPr>
        <p:spPr>
          <a:xfrm>
            <a:off x="8229600" y="4828032"/>
            <a:ext cx="155635" cy="1960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8" name="Text 0"/>
          <p:cNvSpPr txBox="1"/>
          <p:nvPr>
            <p:ph type="title"/>
          </p:nvPr>
        </p:nvSpPr>
        <p:spPr>
          <a:xfrm>
            <a:off x="461962" y="622105"/>
            <a:ext cx="8229601" cy="502920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Interruptible Voice Agents: When Timing Matters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49240" y="155448"/>
            <a:ext cx="35661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E6EDF3"/>
                </a:solidFill>
              </a:rPr>
              <a:t>Team Knox</a:t>
            </a:r>
          </a:p>
          <a:p>
            <a:pPr algn="r"/>
            <a:r>
              <a:rPr sz="850">
                <a:solidFill>
                  <a:srgbClr val="8B949E"/>
                </a:solidFill>
              </a:rPr>
              <a:t>Aiyana Sehgal  ·  Srinjoyee Acharyya  ·  Simran Das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 txBox="1"/>
          <p:nvPr>
            <p:ph type="title"/>
          </p:nvPr>
        </p:nvSpPr>
        <p:spPr>
          <a:xfrm>
            <a:off x="457200" y="274319"/>
            <a:ext cx="8229600" cy="50292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Our Fix: The ToolController Coordination Layer</a:t>
            </a:r>
          </a:p>
        </p:txBody>
      </p:sp>
      <p:sp>
        <p:nvSpPr>
          <p:cNvPr id="61" name="Text 1"/>
          <p:cNvSpPr txBox="1"/>
          <p:nvPr/>
        </p:nvSpPr>
        <p:spPr>
          <a:xfrm>
            <a:off x="457200" y="804672"/>
            <a:ext cx="822960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/>
            <a:r>
              <a:t>The language model only proposes tool calls. The controller decides whether each call actually runs.</a:t>
            </a:r>
          </a:p>
        </p:txBody>
      </p:sp>
      <p:grpSp>
        <p:nvGrpSpPr>
          <p:cNvPr id="64" name="Text 2"/>
          <p:cNvGrpSpPr/>
          <p:nvPr/>
        </p:nvGrpSpPr>
        <p:grpSpPr>
          <a:xfrm>
            <a:off x="457200" y="1280160"/>
            <a:ext cx="731520" cy="310897"/>
            <a:chOff x="0" y="0"/>
            <a:chExt cx="731519" cy="310895"/>
          </a:xfrm>
        </p:grpSpPr>
        <p:sp>
          <p:nvSpPr>
            <p:cNvPr id="62" name="Rounded Rectangle"/>
            <p:cNvSpPr/>
            <p:nvPr/>
          </p:nvSpPr>
          <p:spPr>
            <a:xfrm>
              <a:off x="0" y="0"/>
              <a:ext cx="731520" cy="310896"/>
            </a:xfrm>
            <a:prstGeom prst="roundRect">
              <a:avLst>
                <a:gd name="adj" fmla="val 29412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63" name="User"/>
            <p:cNvSpPr txBox="1"/>
            <p:nvPr/>
          </p:nvSpPr>
          <p:spPr>
            <a:xfrm>
              <a:off x="33131" y="91947"/>
              <a:ext cx="665258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900">
                  <a:solidFill>
                    <a:srgbClr val="F4F6FB"/>
                  </a:solidFill>
                </a:defRPr>
              </a:lvl1pPr>
            </a:lstStyle>
            <a:p>
              <a:pPr/>
              <a:r>
                <a:t>User</a:t>
              </a:r>
            </a:p>
          </p:txBody>
        </p:sp>
      </p:grpSp>
      <p:sp>
        <p:nvSpPr>
          <p:cNvPr id="65" name="Text 3"/>
          <p:cNvSpPr txBox="1"/>
          <p:nvPr/>
        </p:nvSpPr>
        <p:spPr>
          <a:xfrm>
            <a:off x="1188719" y="1368474"/>
            <a:ext cx="2743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chemeClr val="accent4"/>
                </a:solidFill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68" name="Text 4"/>
          <p:cNvGrpSpPr/>
          <p:nvPr/>
        </p:nvGrpSpPr>
        <p:grpSpPr>
          <a:xfrm>
            <a:off x="1463039" y="1280160"/>
            <a:ext cx="868681" cy="310897"/>
            <a:chOff x="0" y="0"/>
            <a:chExt cx="868680" cy="310895"/>
          </a:xfrm>
        </p:grpSpPr>
        <p:sp>
          <p:nvSpPr>
            <p:cNvPr id="66" name="Rounded Rectangle"/>
            <p:cNvSpPr/>
            <p:nvPr/>
          </p:nvSpPr>
          <p:spPr>
            <a:xfrm>
              <a:off x="0" y="0"/>
              <a:ext cx="868681" cy="310896"/>
            </a:xfrm>
            <a:prstGeom prst="roundRect">
              <a:avLst>
                <a:gd name="adj" fmla="val 29412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67" name="LiveKit"/>
            <p:cNvSpPr txBox="1"/>
            <p:nvPr/>
          </p:nvSpPr>
          <p:spPr>
            <a:xfrm>
              <a:off x="33131" y="91947"/>
              <a:ext cx="802418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900">
                  <a:solidFill>
                    <a:srgbClr val="F4F6FB"/>
                  </a:solidFill>
                </a:defRPr>
              </a:lvl1pPr>
            </a:lstStyle>
            <a:p>
              <a:pPr/>
              <a:r>
                <a:t>LiveKit</a:t>
              </a:r>
            </a:p>
          </p:txBody>
        </p:sp>
      </p:grpSp>
      <p:sp>
        <p:nvSpPr>
          <p:cNvPr id="69" name="Text 5"/>
          <p:cNvSpPr txBox="1"/>
          <p:nvPr/>
        </p:nvSpPr>
        <p:spPr>
          <a:xfrm>
            <a:off x="2331720" y="1368474"/>
            <a:ext cx="2743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chemeClr val="accent4"/>
                </a:solidFill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72" name="Text 6"/>
          <p:cNvGrpSpPr/>
          <p:nvPr/>
        </p:nvGrpSpPr>
        <p:grpSpPr>
          <a:xfrm>
            <a:off x="2606039" y="1280160"/>
            <a:ext cx="1051561" cy="310897"/>
            <a:chOff x="0" y="0"/>
            <a:chExt cx="1051560" cy="310895"/>
          </a:xfrm>
        </p:grpSpPr>
        <p:sp>
          <p:nvSpPr>
            <p:cNvPr id="70" name="Rounded Rectangle"/>
            <p:cNvSpPr/>
            <p:nvPr/>
          </p:nvSpPr>
          <p:spPr>
            <a:xfrm>
              <a:off x="0" y="0"/>
              <a:ext cx="1051561" cy="310896"/>
            </a:xfrm>
            <a:prstGeom prst="roundRect">
              <a:avLst>
                <a:gd name="adj" fmla="val 29412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71" name="Silero VAD"/>
            <p:cNvSpPr txBox="1"/>
            <p:nvPr/>
          </p:nvSpPr>
          <p:spPr>
            <a:xfrm>
              <a:off x="33131" y="91947"/>
              <a:ext cx="985298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900">
                  <a:solidFill>
                    <a:srgbClr val="F4F6FB"/>
                  </a:solidFill>
                </a:defRPr>
              </a:lvl1pPr>
            </a:lstStyle>
            <a:p>
              <a:pPr/>
              <a:r>
                <a:t>Silero VAD</a:t>
              </a:r>
            </a:p>
          </p:txBody>
        </p:sp>
      </p:grpSp>
      <p:sp>
        <p:nvSpPr>
          <p:cNvPr id="73" name="Text 7"/>
          <p:cNvSpPr txBox="1"/>
          <p:nvPr/>
        </p:nvSpPr>
        <p:spPr>
          <a:xfrm>
            <a:off x="3657599" y="1368474"/>
            <a:ext cx="2743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chemeClr val="accent4"/>
                </a:solidFill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76" name="Text 8"/>
          <p:cNvGrpSpPr/>
          <p:nvPr/>
        </p:nvGrpSpPr>
        <p:grpSpPr>
          <a:xfrm>
            <a:off x="3931920" y="1280160"/>
            <a:ext cx="1737361" cy="310897"/>
            <a:chOff x="0" y="0"/>
            <a:chExt cx="1737360" cy="310895"/>
          </a:xfrm>
        </p:grpSpPr>
        <p:sp>
          <p:nvSpPr>
            <p:cNvPr id="74" name="Rounded Rectangle"/>
            <p:cNvSpPr/>
            <p:nvPr/>
          </p:nvSpPr>
          <p:spPr>
            <a:xfrm>
              <a:off x="0" y="0"/>
              <a:ext cx="1737361" cy="310896"/>
            </a:xfrm>
            <a:prstGeom prst="roundRect">
              <a:avLst>
                <a:gd name="adj" fmla="val 29412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75" name="Semantic Turn Detector"/>
            <p:cNvSpPr txBox="1"/>
            <p:nvPr/>
          </p:nvSpPr>
          <p:spPr>
            <a:xfrm>
              <a:off x="33131" y="91947"/>
              <a:ext cx="1671098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900">
                  <a:solidFill>
                    <a:srgbClr val="F4F6FB"/>
                  </a:solidFill>
                </a:defRPr>
              </a:lvl1pPr>
            </a:lstStyle>
            <a:p>
              <a:pPr/>
              <a:r>
                <a:t>Semantic Turn Detector</a:t>
              </a:r>
            </a:p>
          </p:txBody>
        </p:sp>
      </p:grpSp>
      <p:sp>
        <p:nvSpPr>
          <p:cNvPr id="77" name="Text 9"/>
          <p:cNvSpPr txBox="1"/>
          <p:nvPr/>
        </p:nvSpPr>
        <p:spPr>
          <a:xfrm>
            <a:off x="5669279" y="1368474"/>
            <a:ext cx="2743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chemeClr val="accent4"/>
                </a:solidFill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80" name="Text 10"/>
          <p:cNvGrpSpPr/>
          <p:nvPr/>
        </p:nvGrpSpPr>
        <p:grpSpPr>
          <a:xfrm>
            <a:off x="5943600" y="1280160"/>
            <a:ext cx="1188720" cy="310897"/>
            <a:chOff x="0" y="0"/>
            <a:chExt cx="1188719" cy="310895"/>
          </a:xfrm>
        </p:grpSpPr>
        <p:sp>
          <p:nvSpPr>
            <p:cNvPr id="78" name="Rounded Rectangle"/>
            <p:cNvSpPr/>
            <p:nvPr/>
          </p:nvSpPr>
          <p:spPr>
            <a:xfrm>
              <a:off x="0" y="0"/>
              <a:ext cx="1188720" cy="310896"/>
            </a:xfrm>
            <a:prstGeom prst="roundRect">
              <a:avLst>
                <a:gd name="adj" fmla="val 29412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79" name="Whisper STT"/>
            <p:cNvSpPr txBox="1"/>
            <p:nvPr/>
          </p:nvSpPr>
          <p:spPr>
            <a:xfrm>
              <a:off x="33131" y="91947"/>
              <a:ext cx="1122458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900">
                  <a:solidFill>
                    <a:srgbClr val="F4F6FB"/>
                  </a:solidFill>
                </a:defRPr>
              </a:lvl1pPr>
            </a:lstStyle>
            <a:p>
              <a:pPr/>
              <a:r>
                <a:t>Whisper STT</a:t>
              </a:r>
            </a:p>
          </p:txBody>
        </p:sp>
      </p:grpSp>
      <p:sp>
        <p:nvSpPr>
          <p:cNvPr id="81" name="Text 11"/>
          <p:cNvSpPr txBox="1"/>
          <p:nvPr/>
        </p:nvSpPr>
        <p:spPr>
          <a:xfrm>
            <a:off x="7132319" y="1368474"/>
            <a:ext cx="2743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chemeClr val="accent4"/>
                </a:solidFill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84" name="Text 12"/>
          <p:cNvGrpSpPr/>
          <p:nvPr/>
        </p:nvGrpSpPr>
        <p:grpSpPr>
          <a:xfrm>
            <a:off x="7406640" y="1280160"/>
            <a:ext cx="1051561" cy="310897"/>
            <a:chOff x="0" y="0"/>
            <a:chExt cx="1051560" cy="310895"/>
          </a:xfrm>
        </p:grpSpPr>
        <p:sp>
          <p:nvSpPr>
            <p:cNvPr id="82" name="Rounded Rectangle"/>
            <p:cNvSpPr/>
            <p:nvPr/>
          </p:nvSpPr>
          <p:spPr>
            <a:xfrm>
              <a:off x="0" y="0"/>
              <a:ext cx="1051561" cy="310896"/>
            </a:xfrm>
            <a:prstGeom prst="roundRect">
              <a:avLst>
                <a:gd name="adj" fmla="val 29412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83" name="Local LM"/>
            <p:cNvSpPr txBox="1"/>
            <p:nvPr/>
          </p:nvSpPr>
          <p:spPr>
            <a:xfrm>
              <a:off x="33131" y="91947"/>
              <a:ext cx="985298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900">
                  <a:solidFill>
                    <a:srgbClr val="F4F6FB"/>
                  </a:solidFill>
                </a:defRPr>
              </a:lvl1pPr>
            </a:lstStyle>
            <a:p>
              <a:pPr/>
              <a:r>
                <a:t>Local LM</a:t>
              </a:r>
            </a:p>
          </p:txBody>
        </p:sp>
      </p:grpSp>
      <p:sp>
        <p:nvSpPr>
          <p:cNvPr id="85" name="Shape 13"/>
          <p:cNvSpPr/>
          <p:nvPr/>
        </p:nvSpPr>
        <p:spPr>
          <a:xfrm>
            <a:off x="457200" y="1874520"/>
            <a:ext cx="1280161" cy="2011680"/>
          </a:xfrm>
          <a:prstGeom prst="roundRect">
            <a:avLst>
              <a:gd name="adj" fmla="val 8571"/>
            </a:avLst>
          </a:prstGeom>
          <a:solidFill>
            <a:srgbClr val="131722"/>
          </a:solidFill>
          <a:ln w="12700">
            <a:solidFill>
              <a:srgbClr val="252B3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14"/>
          <p:cNvSpPr txBox="1"/>
          <p:nvPr/>
        </p:nvSpPr>
        <p:spPr>
          <a:xfrm>
            <a:off x="457199" y="2631878"/>
            <a:ext cx="1280162" cy="496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chemeClr val="accent4"/>
                </a:solidFill>
              </a:defRPr>
            </a:pPr>
            <a:r>
              <a:t>LLM proposes</a:t>
            </a:r>
          </a:p>
          <a:p>
            <a:pPr algn="ctr">
              <a:defRPr sz="1000">
                <a:solidFill>
                  <a:srgbClr val="F4F6FB"/>
                </a:solidFill>
              </a:defRPr>
            </a:pPr>
            <a:r>
              <a:t> </a:t>
            </a:r>
          </a:p>
          <a:p>
            <a:pPr algn="ctr">
              <a:defRPr sz="1300">
                <a:solidFill>
                  <a:srgbClr val="F4F6FB"/>
                </a:solidFill>
              </a:defRPr>
            </a:pPr>
            <a:r>
              <a:t>Tool proposal</a:t>
            </a:r>
          </a:p>
        </p:txBody>
      </p:sp>
      <p:sp>
        <p:nvSpPr>
          <p:cNvPr id="87" name="Text 15"/>
          <p:cNvSpPr txBox="1"/>
          <p:nvPr/>
        </p:nvSpPr>
        <p:spPr>
          <a:xfrm>
            <a:off x="1737360" y="2775783"/>
            <a:ext cx="36576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chemeClr val="accent1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88" name="Shape 16"/>
          <p:cNvSpPr/>
          <p:nvPr/>
        </p:nvSpPr>
        <p:spPr>
          <a:xfrm>
            <a:off x="2103120" y="1874520"/>
            <a:ext cx="4937760" cy="2011680"/>
          </a:xfrm>
          <a:prstGeom prst="roundRect">
            <a:avLst>
              <a:gd name="adj" fmla="val 8182"/>
            </a:avLst>
          </a:prstGeom>
          <a:solidFill>
            <a:srgbClr val="131722"/>
          </a:solidFill>
          <a:ln w="3175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17"/>
          <p:cNvSpPr txBox="1"/>
          <p:nvPr/>
        </p:nvSpPr>
        <p:spPr>
          <a:xfrm>
            <a:off x="2286000" y="1965960"/>
            <a:ext cx="457200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chemeClr val="accent1"/>
                </a:solidFill>
              </a:defRPr>
            </a:pPr>
            <a:r>
              <a:t>TOOL CONTROLLER</a:t>
            </a:r>
            <a:r>
              <a:rPr b="0" sz="1000">
                <a:solidFill>
                  <a:schemeClr val="accent4"/>
                </a:solidFill>
              </a:rPr>
              <a:t>   Controller decides</a:t>
            </a:r>
          </a:p>
        </p:txBody>
      </p:sp>
      <p:sp>
        <p:nvSpPr>
          <p:cNvPr id="90" name="Shape 18"/>
          <p:cNvSpPr/>
          <p:nvPr/>
        </p:nvSpPr>
        <p:spPr>
          <a:xfrm>
            <a:off x="2240279" y="2331720"/>
            <a:ext cx="1463041" cy="1417321"/>
          </a:xfrm>
          <a:prstGeom prst="roundRect">
            <a:avLst>
              <a:gd name="adj" fmla="val 6452"/>
            </a:avLst>
          </a:prstGeom>
          <a:solidFill>
            <a:srgbClr val="0A0C12"/>
          </a:solidFill>
          <a:ln w="12700">
            <a:solidFill>
              <a:srgbClr val="252B3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19"/>
          <p:cNvSpPr txBox="1"/>
          <p:nvPr/>
        </p:nvSpPr>
        <p:spPr>
          <a:xfrm>
            <a:off x="2331720" y="2404872"/>
            <a:ext cx="12801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chemeClr val="accent1"/>
                </a:solidFill>
              </a:defRPr>
            </a:lvl1pPr>
          </a:lstStyle>
          <a:p>
            <a:pPr/>
            <a:r>
              <a:t>1 · Commit gate</a:t>
            </a:r>
          </a:p>
        </p:txBody>
      </p:sp>
      <p:sp>
        <p:nvSpPr>
          <p:cNvPr id="92" name="Text 20"/>
          <p:cNvSpPr txBox="1"/>
          <p:nvPr/>
        </p:nvSpPr>
        <p:spPr>
          <a:xfrm>
            <a:off x="2331720" y="2697479"/>
            <a:ext cx="1280161" cy="39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F4F6FB"/>
                </a:solidFill>
              </a:defRPr>
            </a:lvl1pPr>
          </a:lstStyle>
          <a:p>
            <a:pPr/>
            <a:r>
              <a:t>Waits for a configurable quiet window. User speaks again → call dropped.</a:t>
            </a:r>
          </a:p>
        </p:txBody>
      </p:sp>
      <p:sp>
        <p:nvSpPr>
          <p:cNvPr id="93" name="Shape 21"/>
          <p:cNvSpPr/>
          <p:nvPr/>
        </p:nvSpPr>
        <p:spPr>
          <a:xfrm>
            <a:off x="3794759" y="2331720"/>
            <a:ext cx="1463041" cy="1417321"/>
          </a:xfrm>
          <a:prstGeom prst="roundRect">
            <a:avLst>
              <a:gd name="adj" fmla="val 6452"/>
            </a:avLst>
          </a:prstGeom>
          <a:solidFill>
            <a:srgbClr val="0A0C12"/>
          </a:solidFill>
          <a:ln w="12700">
            <a:solidFill>
              <a:srgbClr val="252B3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Text 22"/>
          <p:cNvSpPr txBox="1"/>
          <p:nvPr/>
        </p:nvSpPr>
        <p:spPr>
          <a:xfrm>
            <a:off x="3886199" y="2404872"/>
            <a:ext cx="128016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chemeClr val="accent1"/>
                </a:solidFill>
              </a:defRPr>
            </a:lvl1pPr>
          </a:lstStyle>
          <a:p>
            <a:pPr/>
            <a:r>
              <a:t>2 · Supersession</a:t>
            </a:r>
          </a:p>
        </p:txBody>
      </p:sp>
      <p:sp>
        <p:nvSpPr>
          <p:cNvPr id="95" name="Text 23"/>
          <p:cNvSpPr txBox="1"/>
          <p:nvPr/>
        </p:nvSpPr>
        <p:spPr>
          <a:xfrm>
            <a:off x="3886199" y="2697479"/>
            <a:ext cx="1280162" cy="39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F4F6FB"/>
                </a:solidFill>
              </a:defRPr>
            </a:lvl1pPr>
          </a:lstStyle>
          <a:p>
            <a:pPr/>
            <a:r>
              <a:t>A corrected request replaces the previous pending intent.</a:t>
            </a:r>
          </a:p>
        </p:txBody>
      </p:sp>
      <p:sp>
        <p:nvSpPr>
          <p:cNvPr id="96" name="Shape 24"/>
          <p:cNvSpPr/>
          <p:nvPr/>
        </p:nvSpPr>
        <p:spPr>
          <a:xfrm>
            <a:off x="5349240" y="2331720"/>
            <a:ext cx="1463041" cy="1417321"/>
          </a:xfrm>
          <a:prstGeom prst="roundRect">
            <a:avLst>
              <a:gd name="adj" fmla="val 6452"/>
            </a:avLst>
          </a:prstGeom>
          <a:solidFill>
            <a:srgbClr val="0A0C12"/>
          </a:solidFill>
          <a:ln w="12700">
            <a:solidFill>
              <a:srgbClr val="252B3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25"/>
          <p:cNvSpPr txBox="1"/>
          <p:nvPr/>
        </p:nvSpPr>
        <p:spPr>
          <a:xfrm>
            <a:off x="5440679" y="2404872"/>
            <a:ext cx="12801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chemeClr val="accent1"/>
                </a:solidFill>
              </a:defRPr>
            </a:lvl1pPr>
          </a:lstStyle>
          <a:p>
            <a:pPr/>
            <a:r>
              <a:t>3 · Deduplication</a:t>
            </a:r>
          </a:p>
        </p:txBody>
      </p:sp>
      <p:sp>
        <p:nvSpPr>
          <p:cNvPr id="98" name="Text 26"/>
          <p:cNvSpPr txBox="1"/>
          <p:nvPr/>
        </p:nvSpPr>
        <p:spPr>
          <a:xfrm>
            <a:off x="5440679" y="2697479"/>
            <a:ext cx="1280161" cy="254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F4F6FB"/>
                </a:solidFill>
              </a:defRPr>
            </a:lvl1pPr>
          </a:lstStyle>
          <a:p>
            <a:pPr/>
            <a:r>
              <a:t>Identical current requests share one execution.</a:t>
            </a:r>
          </a:p>
        </p:txBody>
      </p:sp>
      <p:sp>
        <p:nvSpPr>
          <p:cNvPr id="99" name="Text 27"/>
          <p:cNvSpPr txBox="1"/>
          <p:nvPr/>
        </p:nvSpPr>
        <p:spPr>
          <a:xfrm>
            <a:off x="7040880" y="2775783"/>
            <a:ext cx="36576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chemeClr val="accent1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00" name="Shape 28"/>
          <p:cNvSpPr/>
          <p:nvPr/>
        </p:nvSpPr>
        <p:spPr>
          <a:xfrm>
            <a:off x="7406640" y="1874520"/>
            <a:ext cx="1280161" cy="2011680"/>
          </a:xfrm>
          <a:prstGeom prst="roundRect">
            <a:avLst>
              <a:gd name="adj" fmla="val 8571"/>
            </a:avLst>
          </a:prstGeom>
          <a:solidFill>
            <a:srgbClr val="131722"/>
          </a:solidFill>
          <a:ln w="12700">
            <a:solidFill>
              <a:srgbClr val="252B3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29"/>
          <p:cNvSpPr txBox="1"/>
          <p:nvPr/>
        </p:nvSpPr>
        <p:spPr>
          <a:xfrm>
            <a:off x="7406640" y="2631878"/>
            <a:ext cx="1280161" cy="496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chemeClr val="accent4"/>
                </a:solidFill>
              </a:defRPr>
            </a:pPr>
            <a:r>
              <a:t>Executes</a:t>
            </a:r>
          </a:p>
          <a:p>
            <a:pPr algn="ctr">
              <a:defRPr sz="1000">
                <a:solidFill>
                  <a:srgbClr val="F4F6FB"/>
                </a:solidFill>
              </a:defRPr>
            </a:pPr>
            <a:r>
              <a:t> </a:t>
            </a:r>
          </a:p>
          <a:p>
            <a:pPr algn="ctr">
              <a:defRPr sz="1300">
                <a:solidFill>
                  <a:srgbClr val="F4F6FB"/>
                </a:solidFill>
              </a:defRPr>
            </a:pPr>
            <a:r>
              <a:t>Mock tool</a:t>
            </a:r>
          </a:p>
        </p:txBody>
      </p:sp>
      <p:sp>
        <p:nvSpPr>
          <p:cNvPr id="102" name="Text 30"/>
          <p:cNvSpPr txBox="1"/>
          <p:nvPr/>
        </p:nvSpPr>
        <p:spPr>
          <a:xfrm>
            <a:off x="457200" y="4023359"/>
            <a:ext cx="8229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/>
            <a:r>
              <a:t>Session stays alive after the benchmark harness disconnects, so calls already inside the gate can finish.</a:t>
            </a:r>
          </a:p>
        </p:txBody>
      </p:sp>
      <p:sp>
        <p:nvSpPr>
          <p:cNvPr id="103" name="Text 31"/>
          <p:cNvSpPr txBox="1"/>
          <p:nvPr/>
        </p:nvSpPr>
        <p:spPr>
          <a:xfrm>
            <a:off x="457200" y="4331332"/>
            <a:ext cx="8229600" cy="35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2800">
                <a:solidFill>
                  <a:srgbClr val="F4F6FB"/>
                </a:solidFill>
              </a:defRPr>
            </a:pPr>
            <a:r>
              <a:t>Proposal </a:t>
            </a:r>
            <a:r>
              <a:rPr>
                <a:solidFill>
                  <a:schemeClr val="accent1"/>
                </a:solidFill>
              </a:rPr>
              <a:t>≠</a:t>
            </a:r>
            <a:r>
              <a:t> Execution</a:t>
            </a:r>
          </a:p>
        </p:txBody>
      </p:sp>
      <p:sp>
        <p:nvSpPr>
          <p:cNvPr id="104" name="Slide Number Placeholder 0"/>
          <p:cNvSpPr txBox="1"/>
          <p:nvPr>
            <p:ph type="sldNum" sz="quarter" idx="4294967295"/>
          </p:nvPr>
        </p:nvSpPr>
        <p:spPr>
          <a:xfrm>
            <a:off x="8229600" y="4828032"/>
            <a:ext cx="155635" cy="1960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 txBox="1"/>
          <p:nvPr>
            <p:ph type="title"/>
          </p:nvPr>
        </p:nvSpPr>
        <p:spPr>
          <a:xfrm>
            <a:off x="457200" y="274319"/>
            <a:ext cx="8229600" cy="50292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Live Demo: Correcting Mid-Sentence</a:t>
            </a:r>
          </a:p>
        </p:txBody>
      </p:sp>
      <p:sp>
        <p:nvSpPr>
          <p:cNvPr id="107" name="Shape 1"/>
          <p:cNvSpPr/>
          <p:nvPr/>
        </p:nvSpPr>
        <p:spPr>
          <a:xfrm>
            <a:off x="457200" y="960119"/>
            <a:ext cx="4023360" cy="1554481"/>
          </a:xfrm>
          <a:prstGeom prst="roundRect">
            <a:avLst>
              <a:gd name="adj" fmla="val 7059"/>
            </a:avLst>
          </a:prstGeom>
          <a:solidFill>
            <a:srgbClr val="131722"/>
          </a:solidFill>
          <a:ln w="12700">
            <a:solidFill>
              <a:srgbClr val="252B3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2"/>
          <p:cNvSpPr txBox="1"/>
          <p:nvPr/>
        </p:nvSpPr>
        <p:spPr>
          <a:xfrm>
            <a:off x="640080" y="1033272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4"/>
                </a:solidFill>
              </a:defRPr>
            </a:lvl1pPr>
          </a:lstStyle>
          <a:p>
            <a:pPr/>
            <a:r>
              <a:t>USER</a:t>
            </a:r>
          </a:p>
        </p:txBody>
      </p:sp>
      <p:sp>
        <p:nvSpPr>
          <p:cNvPr id="109" name="Text 3"/>
          <p:cNvSpPr txBox="1"/>
          <p:nvPr/>
        </p:nvSpPr>
        <p:spPr>
          <a:xfrm>
            <a:off x="640080" y="1234439"/>
            <a:ext cx="3657601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4F6FB"/>
                </a:solidFill>
              </a:defRPr>
            </a:lvl1pPr>
          </a:lstStyle>
          <a:p>
            <a:pPr/>
            <a:r>
              <a:t>“Living room, twenty-two.”</a:t>
            </a:r>
          </a:p>
        </p:txBody>
      </p:sp>
      <p:grpSp>
        <p:nvGrpSpPr>
          <p:cNvPr id="112" name="Text 4"/>
          <p:cNvGrpSpPr/>
          <p:nvPr/>
        </p:nvGrpSpPr>
        <p:grpSpPr>
          <a:xfrm>
            <a:off x="640080" y="1691639"/>
            <a:ext cx="3657601" cy="274321"/>
            <a:chOff x="0" y="0"/>
            <a:chExt cx="3657600" cy="274320"/>
          </a:xfrm>
        </p:grpSpPr>
        <p:sp>
          <p:nvSpPr>
            <p:cNvPr id="110" name="Rounded Rectangle"/>
            <p:cNvSpPr/>
            <p:nvPr/>
          </p:nvSpPr>
          <p:spPr>
            <a:xfrm>
              <a:off x="0" y="0"/>
              <a:ext cx="3657600" cy="274321"/>
            </a:xfrm>
            <a:prstGeom prst="roundRect">
              <a:avLst>
                <a:gd name="adj" fmla="val 33333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111" name="TOOL PROPOSAL · Living room · 22"/>
            <p:cNvSpPr txBox="1"/>
            <p:nvPr/>
          </p:nvSpPr>
          <p:spPr>
            <a:xfrm>
              <a:off x="33131" y="73659"/>
              <a:ext cx="3591338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900">
                  <a:solidFill>
                    <a:srgbClr val="F4F6FB"/>
                  </a:solidFill>
                </a:defRPr>
              </a:lvl1pPr>
            </a:lstStyle>
            <a:p>
              <a:pPr/>
              <a:r>
                <a:t>TOOL PROPOSAL · Living room · 22</a:t>
              </a:r>
            </a:p>
          </p:txBody>
        </p:sp>
      </p:grpSp>
      <p:sp>
        <p:nvSpPr>
          <p:cNvPr id="113" name="Text 5"/>
          <p:cNvSpPr txBox="1"/>
          <p:nvPr/>
        </p:nvSpPr>
        <p:spPr>
          <a:xfrm>
            <a:off x="640080" y="1956816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pPr/>
            <a:r>
              <a:t>↓</a:t>
            </a:r>
          </a:p>
        </p:txBody>
      </p:sp>
      <p:grpSp>
        <p:nvGrpSpPr>
          <p:cNvPr id="116" name="Text 6"/>
          <p:cNvGrpSpPr/>
          <p:nvPr/>
        </p:nvGrpSpPr>
        <p:grpSpPr>
          <a:xfrm>
            <a:off x="640080" y="2103120"/>
            <a:ext cx="3657601" cy="274321"/>
            <a:chOff x="0" y="0"/>
            <a:chExt cx="3657600" cy="274320"/>
          </a:xfrm>
        </p:grpSpPr>
        <p:sp>
          <p:nvSpPr>
            <p:cNvPr id="114" name="Rounded Rectangle"/>
            <p:cNvSpPr/>
            <p:nvPr/>
          </p:nvSpPr>
          <p:spPr>
            <a:xfrm>
              <a:off x="0" y="0"/>
              <a:ext cx="3657600" cy="274321"/>
            </a:xfrm>
            <a:prstGeom prst="roundRect">
              <a:avLst>
                <a:gd name="adj" fmla="val 33333"/>
              </a:avLst>
            </a:prstGeom>
            <a:solidFill>
              <a:srgbClr val="131722"/>
            </a:solidFill>
            <a:ln w="127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115" name="COMMIT GATE · waiting for the quiet window"/>
            <p:cNvSpPr txBox="1"/>
            <p:nvPr/>
          </p:nvSpPr>
          <p:spPr>
            <a:xfrm>
              <a:off x="33131" y="73659"/>
              <a:ext cx="3591338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900">
                  <a:solidFill>
                    <a:schemeClr val="accent1"/>
                  </a:solidFill>
                </a:defRPr>
              </a:lvl1pPr>
            </a:lstStyle>
            <a:p>
              <a:pPr/>
              <a:r>
                <a:t>COMMIT GATE · waiting for the quiet window</a:t>
              </a:r>
            </a:p>
          </p:txBody>
        </p:sp>
      </p:grpSp>
      <p:sp>
        <p:nvSpPr>
          <p:cNvPr id="117" name="Shape 7"/>
          <p:cNvSpPr/>
          <p:nvPr/>
        </p:nvSpPr>
        <p:spPr>
          <a:xfrm>
            <a:off x="4663440" y="960119"/>
            <a:ext cx="4023360" cy="1554481"/>
          </a:xfrm>
          <a:prstGeom prst="roundRect">
            <a:avLst>
              <a:gd name="adj" fmla="val 7059"/>
            </a:avLst>
          </a:prstGeom>
          <a:solidFill>
            <a:srgbClr val="131722"/>
          </a:solidFill>
          <a:ln w="12700">
            <a:solidFill>
              <a:srgbClr val="252B3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8"/>
          <p:cNvSpPr txBox="1"/>
          <p:nvPr/>
        </p:nvSpPr>
        <p:spPr>
          <a:xfrm>
            <a:off x="4846320" y="1033272"/>
            <a:ext cx="2743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4"/>
                </a:solidFill>
              </a:defRPr>
            </a:lvl1pPr>
          </a:lstStyle>
          <a:p>
            <a:pPr/>
            <a:r>
              <a:t>USER, AFTER A PAUSE</a:t>
            </a:r>
          </a:p>
        </p:txBody>
      </p:sp>
      <p:sp>
        <p:nvSpPr>
          <p:cNvPr id="119" name="Text 9"/>
          <p:cNvSpPr txBox="1"/>
          <p:nvPr/>
        </p:nvSpPr>
        <p:spPr>
          <a:xfrm>
            <a:off x="4846320" y="1234439"/>
            <a:ext cx="3657601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4F6FB"/>
                </a:solidFill>
              </a:defRPr>
            </a:pPr>
            <a:r>
              <a:t>“…bedroom, </a:t>
            </a:r>
            <a:r>
              <a:rPr>
                <a:solidFill>
                  <a:schemeClr val="accent1"/>
                </a:solidFill>
              </a:rPr>
              <a:t>twenty-four.</a:t>
            </a:r>
            <a:r>
              <a:t>”</a:t>
            </a:r>
          </a:p>
        </p:txBody>
      </p:sp>
      <p:sp>
        <p:nvSpPr>
          <p:cNvPr id="120" name="Text 10"/>
          <p:cNvSpPr txBox="1"/>
          <p:nvPr/>
        </p:nvSpPr>
        <p:spPr>
          <a:xfrm>
            <a:off x="4846320" y="1783079"/>
            <a:ext cx="36576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/>
            <a:r>
              <a:t>Gate resets. The newer intent takes over.</a:t>
            </a:r>
          </a:p>
        </p:txBody>
      </p:sp>
      <p:sp>
        <p:nvSpPr>
          <p:cNvPr id="121" name="Shape 11"/>
          <p:cNvSpPr/>
          <p:nvPr/>
        </p:nvSpPr>
        <p:spPr>
          <a:xfrm>
            <a:off x="457200" y="2651760"/>
            <a:ext cx="4023360" cy="868681"/>
          </a:xfrm>
          <a:prstGeom prst="roundRect">
            <a:avLst>
              <a:gd name="adj" fmla="val 12632"/>
            </a:avLst>
          </a:prstGeom>
          <a:solidFill>
            <a:srgbClr val="131722"/>
          </a:solidFill>
          <a:ln w="12700">
            <a:solidFill>
              <a:schemeClr val="accent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12"/>
          <p:cNvSpPr txBox="1"/>
          <p:nvPr/>
        </p:nvSpPr>
        <p:spPr>
          <a:xfrm>
            <a:off x="640080" y="2724911"/>
            <a:ext cx="3657601" cy="206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chemeClr val="accent3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✕ </a:t>
            </a:r>
            <a:r>
              <a:t>Living room · 22</a:t>
            </a:r>
          </a:p>
        </p:txBody>
      </p:sp>
      <p:grpSp>
        <p:nvGrpSpPr>
          <p:cNvPr id="125" name="Text 13"/>
          <p:cNvGrpSpPr/>
          <p:nvPr/>
        </p:nvGrpSpPr>
        <p:grpSpPr>
          <a:xfrm>
            <a:off x="640080" y="3063239"/>
            <a:ext cx="850393" cy="310897"/>
            <a:chOff x="0" y="0"/>
            <a:chExt cx="850391" cy="310895"/>
          </a:xfrm>
        </p:grpSpPr>
        <p:sp>
          <p:nvSpPr>
            <p:cNvPr id="123" name="Rounded Rectangle"/>
            <p:cNvSpPr/>
            <p:nvPr/>
          </p:nvSpPr>
          <p:spPr>
            <a:xfrm>
              <a:off x="0" y="0"/>
              <a:ext cx="850392" cy="310896"/>
            </a:xfrm>
            <a:prstGeom prst="roundRect">
              <a:avLst>
                <a:gd name="adj" fmla="val 29412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800"/>
              </a:pPr>
            </a:p>
          </p:txBody>
        </p:sp>
        <p:sp>
          <p:nvSpPr>
            <p:cNvPr id="124" name="PROPOSED"/>
            <p:cNvSpPr txBox="1"/>
            <p:nvPr/>
          </p:nvSpPr>
          <p:spPr>
            <a:xfrm>
              <a:off x="33131" y="91947"/>
              <a:ext cx="78413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800">
                  <a:solidFill>
                    <a:srgbClr val="F4F6FB"/>
                  </a:solidFill>
                </a:defRPr>
              </a:lvl1pPr>
            </a:lstStyle>
            <a:p>
              <a:pPr/>
              <a:r>
                <a:t>PROPOSED</a:t>
              </a:r>
            </a:p>
          </p:txBody>
        </p:sp>
      </p:grpSp>
      <p:grpSp>
        <p:nvGrpSpPr>
          <p:cNvPr id="128" name="Text 14"/>
          <p:cNvGrpSpPr/>
          <p:nvPr/>
        </p:nvGrpSpPr>
        <p:grpSpPr>
          <a:xfrm>
            <a:off x="1581911" y="3063239"/>
            <a:ext cx="850393" cy="310897"/>
            <a:chOff x="0" y="0"/>
            <a:chExt cx="850391" cy="310895"/>
          </a:xfrm>
        </p:grpSpPr>
        <p:sp>
          <p:nvSpPr>
            <p:cNvPr id="126" name="Rounded Rectangle"/>
            <p:cNvSpPr/>
            <p:nvPr/>
          </p:nvSpPr>
          <p:spPr>
            <a:xfrm>
              <a:off x="0" y="0"/>
              <a:ext cx="850392" cy="310896"/>
            </a:xfrm>
            <a:prstGeom prst="roundRect">
              <a:avLst>
                <a:gd name="adj" fmla="val 29412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800"/>
              </a:pPr>
            </a:p>
          </p:txBody>
        </p:sp>
        <p:sp>
          <p:nvSpPr>
            <p:cNvPr id="127" name="WAITING"/>
            <p:cNvSpPr txBox="1"/>
            <p:nvPr/>
          </p:nvSpPr>
          <p:spPr>
            <a:xfrm>
              <a:off x="33131" y="91947"/>
              <a:ext cx="78413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800">
                  <a:solidFill>
                    <a:srgbClr val="F4F6FB"/>
                  </a:solidFill>
                </a:defRPr>
              </a:lvl1pPr>
            </a:lstStyle>
            <a:p>
              <a:pPr/>
              <a:r>
                <a:t>WAITING</a:t>
              </a:r>
            </a:p>
          </p:txBody>
        </p:sp>
      </p:grpSp>
      <p:grpSp>
        <p:nvGrpSpPr>
          <p:cNvPr id="131" name="Text 15"/>
          <p:cNvGrpSpPr/>
          <p:nvPr/>
        </p:nvGrpSpPr>
        <p:grpSpPr>
          <a:xfrm>
            <a:off x="2523744" y="3063239"/>
            <a:ext cx="850393" cy="310897"/>
            <a:chOff x="0" y="0"/>
            <a:chExt cx="850391" cy="310895"/>
          </a:xfrm>
        </p:grpSpPr>
        <p:sp>
          <p:nvSpPr>
            <p:cNvPr id="129" name="Rounded Rectangle"/>
            <p:cNvSpPr/>
            <p:nvPr/>
          </p:nvSpPr>
          <p:spPr>
            <a:xfrm>
              <a:off x="0" y="0"/>
              <a:ext cx="850392" cy="310896"/>
            </a:xfrm>
            <a:prstGeom prst="roundRect">
              <a:avLst>
                <a:gd name="adj" fmla="val 29412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800"/>
              </a:pPr>
            </a:p>
          </p:txBody>
        </p:sp>
        <p:sp>
          <p:nvSpPr>
            <p:cNvPr id="130" name="SUPERSEDED"/>
            <p:cNvSpPr txBox="1"/>
            <p:nvPr/>
          </p:nvSpPr>
          <p:spPr>
            <a:xfrm>
              <a:off x="33131" y="91947"/>
              <a:ext cx="78413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800">
                  <a:solidFill>
                    <a:srgbClr val="F4F6FB"/>
                  </a:solidFill>
                </a:defRPr>
              </a:lvl1pPr>
            </a:lstStyle>
            <a:p>
              <a:pPr/>
              <a:r>
                <a:t>SUPERSEDED</a:t>
              </a:r>
            </a:p>
          </p:txBody>
        </p:sp>
      </p:grpSp>
      <p:grpSp>
        <p:nvGrpSpPr>
          <p:cNvPr id="134" name="Text 16"/>
          <p:cNvGrpSpPr/>
          <p:nvPr/>
        </p:nvGrpSpPr>
        <p:grpSpPr>
          <a:xfrm>
            <a:off x="3465576" y="3063239"/>
            <a:ext cx="850393" cy="310897"/>
            <a:chOff x="0" y="0"/>
            <a:chExt cx="850391" cy="310895"/>
          </a:xfrm>
        </p:grpSpPr>
        <p:sp>
          <p:nvSpPr>
            <p:cNvPr id="132" name="Rounded Rectangle"/>
            <p:cNvSpPr/>
            <p:nvPr/>
          </p:nvSpPr>
          <p:spPr>
            <a:xfrm>
              <a:off x="0" y="0"/>
              <a:ext cx="850392" cy="310896"/>
            </a:xfrm>
            <a:prstGeom prst="roundRect">
              <a:avLst>
                <a:gd name="adj" fmla="val 29412"/>
              </a:avLst>
            </a:prstGeom>
            <a:solidFill>
              <a:schemeClr val="accent5"/>
            </a:solidFill>
            <a:ln w="12700" cap="flat">
              <a:solidFill>
                <a:schemeClr val="accent3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800"/>
              </a:pPr>
            </a:p>
          </p:txBody>
        </p:sp>
        <p:sp>
          <p:nvSpPr>
            <p:cNvPr id="133" name="NOT EXECUTED"/>
            <p:cNvSpPr txBox="1"/>
            <p:nvPr/>
          </p:nvSpPr>
          <p:spPr>
            <a:xfrm>
              <a:off x="33131" y="91947"/>
              <a:ext cx="78413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b="1" sz="800">
                  <a:solidFill>
                    <a:schemeClr val="accent3"/>
                  </a:solidFill>
                </a:defRPr>
              </a:lvl1pPr>
            </a:lstStyle>
            <a:p>
              <a:pPr/>
              <a:r>
                <a:t>NOT EXECUTED</a:t>
              </a:r>
            </a:p>
          </p:txBody>
        </p:sp>
      </p:grpSp>
      <p:sp>
        <p:nvSpPr>
          <p:cNvPr id="135" name="Shape 17"/>
          <p:cNvSpPr/>
          <p:nvPr/>
        </p:nvSpPr>
        <p:spPr>
          <a:xfrm>
            <a:off x="4663440" y="2651760"/>
            <a:ext cx="4023360" cy="868681"/>
          </a:xfrm>
          <a:prstGeom prst="roundRect">
            <a:avLst>
              <a:gd name="adj" fmla="val 12632"/>
            </a:avLst>
          </a:prstGeom>
          <a:solidFill>
            <a:srgbClr val="131722"/>
          </a:solidFill>
          <a:ln w="12700">
            <a:solidFill>
              <a:schemeClr val="accent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18"/>
          <p:cNvSpPr txBox="1"/>
          <p:nvPr/>
        </p:nvSpPr>
        <p:spPr>
          <a:xfrm>
            <a:off x="4846320" y="2724911"/>
            <a:ext cx="3657601" cy="209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chemeClr val="accent2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t>Bedroom · 24</a:t>
            </a:r>
          </a:p>
        </p:txBody>
      </p:sp>
      <p:grpSp>
        <p:nvGrpSpPr>
          <p:cNvPr id="139" name="Text 19"/>
          <p:cNvGrpSpPr/>
          <p:nvPr/>
        </p:nvGrpSpPr>
        <p:grpSpPr>
          <a:xfrm>
            <a:off x="4846320" y="3063239"/>
            <a:ext cx="1097281" cy="310897"/>
            <a:chOff x="0" y="0"/>
            <a:chExt cx="1097280" cy="310895"/>
          </a:xfrm>
        </p:grpSpPr>
        <p:sp>
          <p:nvSpPr>
            <p:cNvPr id="137" name="Rounded Rectangle"/>
            <p:cNvSpPr/>
            <p:nvPr/>
          </p:nvSpPr>
          <p:spPr>
            <a:xfrm>
              <a:off x="0" y="0"/>
              <a:ext cx="1097281" cy="310896"/>
            </a:xfrm>
            <a:prstGeom prst="roundRect">
              <a:avLst>
                <a:gd name="adj" fmla="val 29412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800"/>
              </a:pPr>
            </a:p>
          </p:txBody>
        </p:sp>
        <p:sp>
          <p:nvSpPr>
            <p:cNvPr id="138" name="PROPOSED"/>
            <p:cNvSpPr txBox="1"/>
            <p:nvPr/>
          </p:nvSpPr>
          <p:spPr>
            <a:xfrm>
              <a:off x="33131" y="91947"/>
              <a:ext cx="1031018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800">
                  <a:solidFill>
                    <a:srgbClr val="F4F6FB"/>
                  </a:solidFill>
                </a:defRPr>
              </a:lvl1pPr>
            </a:lstStyle>
            <a:p>
              <a:pPr/>
              <a:r>
                <a:t>PROPOSED</a:t>
              </a:r>
            </a:p>
          </p:txBody>
        </p:sp>
      </p:grpSp>
      <p:grpSp>
        <p:nvGrpSpPr>
          <p:cNvPr id="142" name="Text 20"/>
          <p:cNvGrpSpPr/>
          <p:nvPr/>
        </p:nvGrpSpPr>
        <p:grpSpPr>
          <a:xfrm>
            <a:off x="6035040" y="3063239"/>
            <a:ext cx="1097281" cy="310897"/>
            <a:chOff x="0" y="0"/>
            <a:chExt cx="1097280" cy="310895"/>
          </a:xfrm>
        </p:grpSpPr>
        <p:sp>
          <p:nvSpPr>
            <p:cNvPr id="140" name="Rounded Rectangle"/>
            <p:cNvSpPr/>
            <p:nvPr/>
          </p:nvSpPr>
          <p:spPr>
            <a:xfrm>
              <a:off x="0" y="0"/>
              <a:ext cx="1097281" cy="310896"/>
            </a:xfrm>
            <a:prstGeom prst="roundRect">
              <a:avLst>
                <a:gd name="adj" fmla="val 29412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800"/>
              </a:pPr>
            </a:p>
          </p:txBody>
        </p:sp>
        <p:sp>
          <p:nvSpPr>
            <p:cNvPr id="141" name="COMMITTED"/>
            <p:cNvSpPr txBox="1"/>
            <p:nvPr/>
          </p:nvSpPr>
          <p:spPr>
            <a:xfrm>
              <a:off x="33131" y="91947"/>
              <a:ext cx="1031018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800">
                  <a:solidFill>
                    <a:srgbClr val="F4F6FB"/>
                  </a:solidFill>
                </a:defRPr>
              </a:lvl1pPr>
            </a:lstStyle>
            <a:p>
              <a:pPr/>
              <a:r>
                <a:t>COMMITTED</a:t>
              </a:r>
            </a:p>
          </p:txBody>
        </p:sp>
      </p:grpSp>
      <p:grpSp>
        <p:nvGrpSpPr>
          <p:cNvPr id="145" name="Text 21"/>
          <p:cNvGrpSpPr/>
          <p:nvPr/>
        </p:nvGrpSpPr>
        <p:grpSpPr>
          <a:xfrm>
            <a:off x="7223759" y="3063239"/>
            <a:ext cx="1097281" cy="310897"/>
            <a:chOff x="0" y="0"/>
            <a:chExt cx="1097280" cy="310895"/>
          </a:xfrm>
        </p:grpSpPr>
        <p:sp>
          <p:nvSpPr>
            <p:cNvPr id="143" name="Rounded Rectangle"/>
            <p:cNvSpPr/>
            <p:nvPr/>
          </p:nvSpPr>
          <p:spPr>
            <a:xfrm>
              <a:off x="0" y="0"/>
              <a:ext cx="1097281" cy="310896"/>
            </a:xfrm>
            <a:prstGeom prst="roundRect">
              <a:avLst>
                <a:gd name="adj" fmla="val 29412"/>
              </a:avLst>
            </a:prstGeom>
            <a:solidFill>
              <a:schemeClr val="accent6"/>
            </a:solidFill>
            <a:ln w="127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800"/>
              </a:pPr>
            </a:p>
          </p:txBody>
        </p:sp>
        <p:sp>
          <p:nvSpPr>
            <p:cNvPr id="144" name="EXECUTED"/>
            <p:cNvSpPr txBox="1"/>
            <p:nvPr/>
          </p:nvSpPr>
          <p:spPr>
            <a:xfrm>
              <a:off x="33131" y="91947"/>
              <a:ext cx="1031018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b="1" sz="800">
                  <a:solidFill>
                    <a:schemeClr val="accent2"/>
                  </a:solidFill>
                </a:defRPr>
              </a:lvl1pPr>
            </a:lstStyle>
            <a:p>
              <a:pPr/>
              <a:r>
                <a:t>EXECUTED</a:t>
              </a:r>
            </a:p>
          </p:txBody>
        </p:sp>
      </p:grpSp>
      <p:sp>
        <p:nvSpPr>
          <p:cNvPr id="146" name="Text 22"/>
          <p:cNvSpPr txBox="1"/>
          <p:nvPr/>
        </p:nvSpPr>
        <p:spPr>
          <a:xfrm>
            <a:off x="457200" y="3714375"/>
            <a:ext cx="8229600" cy="39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3000">
                <a:solidFill>
                  <a:srgbClr val="F4F6FB"/>
                </a:solidFill>
              </a:defRPr>
            </a:pPr>
            <a:r>
              <a:t>ONE ACTION. </a:t>
            </a:r>
            <a:r>
              <a:rPr>
                <a:solidFill>
                  <a:schemeClr val="accent1"/>
                </a:solidFill>
              </a:rPr>
              <a:t>THE RIGHT ONE.</a:t>
            </a:r>
          </a:p>
        </p:txBody>
      </p:sp>
      <p:sp>
        <p:nvSpPr>
          <p:cNvPr id="147" name="Text 23"/>
          <p:cNvSpPr txBox="1"/>
          <p:nvPr/>
        </p:nvSpPr>
        <p:spPr>
          <a:xfrm>
            <a:off x="457200" y="4187952"/>
            <a:ext cx="822960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chemeClr val="accent4"/>
                </a:solidFill>
              </a:defRPr>
            </a:lvl1pPr>
          </a:lstStyle>
          <a:p>
            <a:pPr/>
            <a:r>
              <a:t>The abandoned instruction never reached the tool.</a:t>
            </a:r>
          </a:p>
        </p:txBody>
      </p:sp>
      <p:sp>
        <p:nvSpPr>
          <p:cNvPr id="148" name="Text 24"/>
          <p:cNvSpPr txBox="1"/>
          <p:nvPr/>
        </p:nvSpPr>
        <p:spPr>
          <a:xfrm>
            <a:off x="457200" y="4526279"/>
            <a:ext cx="8229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accent4"/>
                </a:solidFill>
              </a:defRPr>
            </a:lvl1pPr>
          </a:lstStyle>
          <a:p>
            <a:pPr/>
            <a:r>
              <a:t>The quiet window is configurable and intentionally wide in the demo so the decision can be observed in real time.</a:t>
            </a:r>
          </a:p>
        </p:txBody>
      </p:sp>
      <p:sp>
        <p:nvSpPr>
          <p:cNvPr id="149" name="Slide Number Placeholder 0"/>
          <p:cNvSpPr txBox="1"/>
          <p:nvPr>
            <p:ph type="sldNum" sz="quarter" idx="4294967295"/>
          </p:nvPr>
        </p:nvSpPr>
        <p:spPr>
          <a:xfrm>
            <a:off x="8229600" y="4828032"/>
            <a:ext cx="155635" cy="1960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 txBox="1"/>
          <p:nvPr>
            <p:ph type="title"/>
          </p:nvPr>
        </p:nvSpPr>
        <p:spPr>
          <a:xfrm>
            <a:off x="457200" y="274319"/>
            <a:ext cx="8229600" cy="50292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Benchmark Results — Full-Duplex-Bench v3</a:t>
            </a:r>
          </a:p>
        </p:txBody>
      </p:sp>
      <p:sp>
        <p:nvSpPr>
          <p:cNvPr id="152" name="Text 1"/>
          <p:cNvSpPr txBox="1"/>
          <p:nvPr/>
        </p:nvSpPr>
        <p:spPr>
          <a:xfrm>
            <a:off x="457200" y="804672"/>
            <a:ext cx="822960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chemeClr val="accent1"/>
                </a:solidFill>
              </a:defRPr>
            </a:pPr>
            <a:r>
              <a:t>100 scenarios</a:t>
            </a:r>
            <a:r>
              <a:rPr b="0">
                <a:solidFill>
                  <a:schemeClr val="accent4"/>
                </a:solidFill>
              </a:rPr>
              <a:t>  ·  local 7B-parameter model  ·  latency roughly half of the published baseline</a:t>
            </a:r>
          </a:p>
        </p:txBody>
      </p:sp>
      <p:sp>
        <p:nvSpPr>
          <p:cNvPr id="153" name="Shape 2"/>
          <p:cNvSpPr/>
          <p:nvPr/>
        </p:nvSpPr>
        <p:spPr>
          <a:xfrm>
            <a:off x="457200" y="1234439"/>
            <a:ext cx="8229600" cy="1463041"/>
          </a:xfrm>
          <a:prstGeom prst="roundRect">
            <a:avLst>
              <a:gd name="adj" fmla="val 11250"/>
            </a:avLst>
          </a:prstGeom>
          <a:solidFill>
            <a:srgbClr val="131722"/>
          </a:solidFill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3"/>
          <p:cNvSpPr txBox="1"/>
          <p:nvPr/>
        </p:nvSpPr>
        <p:spPr>
          <a:xfrm>
            <a:off x="685800" y="1325880"/>
            <a:ext cx="365760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chemeClr val="accent4"/>
                </a:solidFill>
              </a:defRPr>
            </a:lvl1pPr>
          </a:lstStyle>
          <a:p>
            <a:pPr/>
            <a:r>
              <a:t>SELF-CORRECTION</a:t>
            </a:r>
          </a:p>
        </p:txBody>
      </p:sp>
      <p:sp>
        <p:nvSpPr>
          <p:cNvPr id="155" name="Text 4"/>
          <p:cNvSpPr txBox="1"/>
          <p:nvPr/>
        </p:nvSpPr>
        <p:spPr>
          <a:xfrm>
            <a:off x="685800" y="1612860"/>
            <a:ext cx="4572000" cy="614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4800">
                <a:solidFill>
                  <a:schemeClr val="accent1"/>
                </a:solidFill>
              </a:defRPr>
            </a:pPr>
            <a:r>
              <a:t>0.471</a:t>
            </a:r>
            <a:r>
              <a:rPr sz="2400">
                <a:solidFill>
                  <a:schemeClr val="accent4"/>
                </a:solidFill>
              </a:rPr>
              <a:t>  vs  0.176</a:t>
            </a:r>
          </a:p>
        </p:txBody>
      </p:sp>
      <p:sp>
        <p:nvSpPr>
          <p:cNvPr id="156" name="Text 5"/>
          <p:cNvSpPr txBox="1"/>
          <p:nvPr/>
        </p:nvSpPr>
        <p:spPr>
          <a:xfrm>
            <a:off x="685800" y="2285999"/>
            <a:ext cx="3657600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F4F6FB"/>
                </a:solidFill>
              </a:defRPr>
            </a:lvl1pPr>
          </a:lstStyle>
          <a:p>
            <a:pPr/>
            <a:r>
              <a:t>2.67× better</a:t>
            </a:r>
          </a:p>
        </p:txBody>
      </p:sp>
      <p:sp>
        <p:nvSpPr>
          <p:cNvPr id="157" name="Text 6"/>
          <p:cNvSpPr txBox="1"/>
          <p:nvPr/>
        </p:nvSpPr>
        <p:spPr>
          <a:xfrm>
            <a:off x="5394959" y="1714544"/>
            <a:ext cx="7315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/>
            <a:r>
              <a:t>Ours</a:t>
            </a:r>
          </a:p>
        </p:txBody>
      </p:sp>
      <p:sp>
        <p:nvSpPr>
          <p:cNvPr id="158" name="Shape 7"/>
          <p:cNvSpPr/>
          <p:nvPr/>
        </p:nvSpPr>
        <p:spPr>
          <a:xfrm>
            <a:off x="6126479" y="1691639"/>
            <a:ext cx="2377441" cy="182881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Text 8"/>
          <p:cNvSpPr txBox="1"/>
          <p:nvPr/>
        </p:nvSpPr>
        <p:spPr>
          <a:xfrm>
            <a:off x="5394959" y="2171744"/>
            <a:ext cx="7315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/>
            <a:r>
              <a:t>Baseline</a:t>
            </a:r>
          </a:p>
        </p:txBody>
      </p:sp>
      <p:sp>
        <p:nvSpPr>
          <p:cNvPr id="160" name="Shape 9"/>
          <p:cNvSpPr/>
          <p:nvPr/>
        </p:nvSpPr>
        <p:spPr>
          <a:xfrm>
            <a:off x="6126479" y="2148839"/>
            <a:ext cx="886969" cy="182881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Shape 10"/>
          <p:cNvSpPr/>
          <p:nvPr/>
        </p:nvSpPr>
        <p:spPr>
          <a:xfrm>
            <a:off x="457200" y="2834639"/>
            <a:ext cx="2651761" cy="1005841"/>
          </a:xfrm>
          <a:prstGeom prst="roundRect">
            <a:avLst>
              <a:gd name="adj" fmla="val 10909"/>
            </a:avLst>
          </a:prstGeom>
          <a:solidFill>
            <a:srgbClr val="131722"/>
          </a:solidFill>
          <a:ln w="12700">
            <a:solidFill>
              <a:srgbClr val="252B3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11"/>
          <p:cNvSpPr txBox="1"/>
          <p:nvPr/>
        </p:nvSpPr>
        <p:spPr>
          <a:xfrm>
            <a:off x="640080" y="2907792"/>
            <a:ext cx="22860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/>
            <a:r>
              <a:t>Tool selection accuracy</a:t>
            </a:r>
          </a:p>
        </p:txBody>
      </p:sp>
      <p:sp>
        <p:nvSpPr>
          <p:cNvPr id="163" name="Text 12"/>
          <p:cNvSpPr txBox="1"/>
          <p:nvPr/>
        </p:nvSpPr>
        <p:spPr>
          <a:xfrm>
            <a:off x="640080" y="3136392"/>
            <a:ext cx="2286001" cy="346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chemeClr val="accent1"/>
                </a:solidFill>
              </a:defRPr>
            </a:lvl1pPr>
          </a:lstStyle>
          <a:p>
            <a:pPr/>
            <a:r>
              <a:t>0.895</a:t>
            </a:r>
          </a:p>
        </p:txBody>
      </p:sp>
      <p:sp>
        <p:nvSpPr>
          <p:cNvPr id="164" name="Text 13"/>
          <p:cNvSpPr txBox="1"/>
          <p:nvPr/>
        </p:nvSpPr>
        <p:spPr>
          <a:xfrm>
            <a:off x="640080" y="3547871"/>
            <a:ext cx="2286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/>
            <a:r>
              <a:t>Cascaded baseline 0.803</a:t>
            </a:r>
          </a:p>
        </p:txBody>
      </p:sp>
      <p:sp>
        <p:nvSpPr>
          <p:cNvPr id="165" name="Shape 14"/>
          <p:cNvSpPr/>
          <p:nvPr/>
        </p:nvSpPr>
        <p:spPr>
          <a:xfrm>
            <a:off x="3246120" y="2834639"/>
            <a:ext cx="2651761" cy="1005841"/>
          </a:xfrm>
          <a:prstGeom prst="roundRect">
            <a:avLst>
              <a:gd name="adj" fmla="val 10909"/>
            </a:avLst>
          </a:prstGeom>
          <a:solidFill>
            <a:srgbClr val="131722"/>
          </a:solidFill>
          <a:ln w="12700">
            <a:solidFill>
              <a:srgbClr val="252B3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15"/>
          <p:cNvSpPr txBox="1"/>
          <p:nvPr/>
        </p:nvSpPr>
        <p:spPr>
          <a:xfrm>
            <a:off x="3429000" y="2907792"/>
            <a:ext cx="228600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/>
            <a:r>
              <a:t>Interruption rate</a:t>
            </a:r>
          </a:p>
        </p:txBody>
      </p:sp>
      <p:sp>
        <p:nvSpPr>
          <p:cNvPr id="167" name="Text 16"/>
          <p:cNvSpPr txBox="1"/>
          <p:nvPr/>
        </p:nvSpPr>
        <p:spPr>
          <a:xfrm>
            <a:off x="3429000" y="3136392"/>
            <a:ext cx="2286000" cy="346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chemeClr val="accent1"/>
                </a:solidFill>
              </a:defRPr>
            </a:lvl1pPr>
          </a:lstStyle>
          <a:p>
            <a:pPr/>
            <a:r>
              <a:t>4.3%</a:t>
            </a:r>
          </a:p>
        </p:txBody>
      </p:sp>
      <p:sp>
        <p:nvSpPr>
          <p:cNvPr id="168" name="Text 17"/>
          <p:cNvSpPr txBox="1"/>
          <p:nvPr/>
        </p:nvSpPr>
        <p:spPr>
          <a:xfrm>
            <a:off x="3429000" y="3547871"/>
            <a:ext cx="22860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/>
            <a:r>
              <a:t>Cascaded baseline 33%</a:t>
            </a:r>
          </a:p>
        </p:txBody>
      </p:sp>
      <p:sp>
        <p:nvSpPr>
          <p:cNvPr id="169" name="Shape 18"/>
          <p:cNvSpPr/>
          <p:nvPr/>
        </p:nvSpPr>
        <p:spPr>
          <a:xfrm>
            <a:off x="6035040" y="2834639"/>
            <a:ext cx="2651761" cy="1005841"/>
          </a:xfrm>
          <a:prstGeom prst="roundRect">
            <a:avLst>
              <a:gd name="adj" fmla="val 10909"/>
            </a:avLst>
          </a:prstGeom>
          <a:solidFill>
            <a:srgbClr val="131722"/>
          </a:solidFill>
          <a:ln w="12700">
            <a:solidFill>
              <a:srgbClr val="252B3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19"/>
          <p:cNvSpPr txBox="1"/>
          <p:nvPr/>
        </p:nvSpPr>
        <p:spPr>
          <a:xfrm>
            <a:off x="6217920" y="2907792"/>
            <a:ext cx="22860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/>
            <a:r>
              <a:t>Rollback</a:t>
            </a:r>
          </a:p>
        </p:txBody>
      </p:sp>
      <p:sp>
        <p:nvSpPr>
          <p:cNvPr id="171" name="Text 20"/>
          <p:cNvSpPr txBox="1"/>
          <p:nvPr/>
        </p:nvSpPr>
        <p:spPr>
          <a:xfrm>
            <a:off x="6217920" y="3136392"/>
            <a:ext cx="2286001" cy="346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chemeClr val="accent1"/>
                </a:solidFill>
              </a:defRPr>
            </a:lvl1pPr>
          </a:lstStyle>
          <a:p>
            <a:pPr/>
            <a:r>
              <a:t>0.471</a:t>
            </a:r>
          </a:p>
        </p:txBody>
      </p:sp>
      <p:sp>
        <p:nvSpPr>
          <p:cNvPr id="172" name="Text 21"/>
          <p:cNvSpPr txBox="1"/>
          <p:nvPr/>
        </p:nvSpPr>
        <p:spPr>
          <a:xfrm>
            <a:off x="6217920" y="3547871"/>
            <a:ext cx="2286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/>
            <a:r>
              <a:t>Without rollback 0.253</a:t>
            </a:r>
          </a:p>
        </p:txBody>
      </p:sp>
      <p:sp>
        <p:nvSpPr>
          <p:cNvPr id="173" name="Text 22"/>
          <p:cNvSpPr txBox="1"/>
          <p:nvPr/>
        </p:nvSpPr>
        <p:spPr>
          <a:xfrm>
            <a:off x="457200" y="3950208"/>
            <a:ext cx="8229600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F4F6FB"/>
                </a:solidFill>
              </a:defRPr>
            </a:lvl1pPr>
          </a:lstStyle>
          <a:p>
            <a:pPr/>
            <a:r>
              <a:t>Self-correction is the key result: FDB-v3 identifies it as a major failure mode of cascaded architectures. The gain comes from the coordination layer targeting stale intent, not from the model alone.</a:t>
            </a:r>
          </a:p>
        </p:txBody>
      </p:sp>
      <p:sp>
        <p:nvSpPr>
          <p:cNvPr id="174" name="Text 23"/>
          <p:cNvSpPr txBox="1"/>
          <p:nvPr/>
        </p:nvSpPr>
        <p:spPr>
          <a:xfrm>
            <a:off x="457200" y="4498847"/>
            <a:ext cx="8229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chemeClr val="accent4"/>
                </a:solidFill>
              </a:defRPr>
            </a:lvl1pPr>
          </a:lstStyle>
          <a:p>
            <a:pPr/>
            <a:r>
              <a:t>Official evaluation uses a hosted GPT-4o judge. Local evaluation used a different judge; results are reported separately.</a:t>
            </a:r>
          </a:p>
        </p:txBody>
      </p:sp>
      <p:sp>
        <p:nvSpPr>
          <p:cNvPr id="175" name="Slide Number Placeholder 0"/>
          <p:cNvSpPr txBox="1"/>
          <p:nvPr>
            <p:ph type="sldNum" sz="quarter" idx="4294967295"/>
          </p:nvPr>
        </p:nvSpPr>
        <p:spPr>
          <a:xfrm>
            <a:off x="8229600" y="4828032"/>
            <a:ext cx="155635" cy="1960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 txBox="1"/>
          <p:nvPr>
            <p:ph type="title"/>
          </p:nvPr>
        </p:nvSpPr>
        <p:spPr>
          <a:xfrm>
            <a:off x="457200" y="274319"/>
            <a:ext cx="8229600" cy="502921"/>
          </a:xfrm>
          <a:prstGeom prst="rect">
            <a:avLst/>
          </a:prstGeom>
        </p:spPr>
        <p:txBody>
          <a:bodyPr lIns="0" tIns="0" rIns="0" bIns="0" anchor="ctr"/>
          <a:lstStyle/>
          <a:p>
            <a:pPr/>
            <a:r>
              <a:t>Where It Still Fails</a:t>
            </a:r>
          </a:p>
        </p:txBody>
      </p:sp>
      <p:sp>
        <p:nvSpPr>
          <p:cNvPr id="178" name="Shape 1"/>
          <p:cNvSpPr/>
          <p:nvPr/>
        </p:nvSpPr>
        <p:spPr>
          <a:xfrm>
            <a:off x="457200" y="960119"/>
            <a:ext cx="2651761" cy="1920241"/>
          </a:xfrm>
          <a:prstGeom prst="roundRect">
            <a:avLst>
              <a:gd name="adj" fmla="val 5714"/>
            </a:avLst>
          </a:prstGeom>
          <a:solidFill>
            <a:srgbClr val="131722"/>
          </a:solidFill>
          <a:ln w="12700">
            <a:solidFill>
              <a:srgbClr val="252B3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Text 2"/>
          <p:cNvSpPr txBox="1"/>
          <p:nvPr/>
        </p:nvSpPr>
        <p:spPr>
          <a:xfrm>
            <a:off x="640080" y="1051560"/>
            <a:ext cx="22860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chemeClr val="accent4"/>
                </a:solidFill>
              </a:defRPr>
            </a:lvl1pPr>
          </a:lstStyle>
          <a:p>
            <a:pPr/>
            <a:r>
              <a:t>ARGUMENT ACCURACY</a:t>
            </a:r>
          </a:p>
        </p:txBody>
      </p:sp>
      <p:sp>
        <p:nvSpPr>
          <p:cNvPr id="180" name="Text 3"/>
          <p:cNvSpPr txBox="1"/>
          <p:nvPr/>
        </p:nvSpPr>
        <p:spPr>
          <a:xfrm>
            <a:off x="640080" y="1280160"/>
            <a:ext cx="2286001" cy="405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200">
                <a:solidFill>
                  <a:schemeClr val="accent3"/>
                </a:solidFill>
              </a:defRPr>
            </a:lvl1pPr>
          </a:lstStyle>
          <a:p>
            <a:pPr/>
            <a:r>
              <a:t>0.418</a:t>
            </a:r>
          </a:p>
        </p:txBody>
      </p:sp>
      <p:sp>
        <p:nvSpPr>
          <p:cNvPr id="181" name="Text 4"/>
          <p:cNvSpPr txBox="1"/>
          <p:nvPr/>
        </p:nvSpPr>
        <p:spPr>
          <a:xfrm>
            <a:off x="640080" y="1810511"/>
            <a:ext cx="2286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F4F6FB"/>
                </a:solidFill>
              </a:defRPr>
            </a:lvl1pPr>
          </a:lstStyle>
          <a:p>
            <a:pPr/>
            <a:r>
              <a:t>Right tool, wrongly formatted arguments.</a:t>
            </a:r>
          </a:p>
        </p:txBody>
      </p:sp>
      <p:sp>
        <p:nvSpPr>
          <p:cNvPr id="182" name="Text 5"/>
          <p:cNvSpPr txBox="1"/>
          <p:nvPr/>
        </p:nvSpPr>
        <p:spPr>
          <a:xfrm>
            <a:off x="640080" y="2286000"/>
            <a:ext cx="228600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solidFill>
                  <a:srgbClr val="F4F6FB"/>
                </a:solidFill>
              </a:defRPr>
            </a:pPr>
            <a:r>
              <a:t>User: “October 7”</a:t>
            </a:r>
          </a:p>
          <a:p>
            <a:pPr>
              <a:defRPr sz="1100">
                <a:solidFill>
                  <a:schemeClr val="accent3"/>
                </a:solidFill>
              </a:defRPr>
            </a:pPr>
            <a:r>
              <a:t>Agent: “2023-10-07”</a:t>
            </a:r>
          </a:p>
        </p:txBody>
      </p:sp>
      <p:sp>
        <p:nvSpPr>
          <p:cNvPr id="183" name="Shape 6"/>
          <p:cNvSpPr/>
          <p:nvPr/>
        </p:nvSpPr>
        <p:spPr>
          <a:xfrm>
            <a:off x="3246120" y="960119"/>
            <a:ext cx="2651761" cy="1920241"/>
          </a:xfrm>
          <a:prstGeom prst="roundRect">
            <a:avLst>
              <a:gd name="adj" fmla="val 5714"/>
            </a:avLst>
          </a:prstGeom>
          <a:solidFill>
            <a:srgbClr val="131722"/>
          </a:solidFill>
          <a:ln w="12700">
            <a:solidFill>
              <a:srgbClr val="252B3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Text 7"/>
          <p:cNvSpPr txBox="1"/>
          <p:nvPr/>
        </p:nvSpPr>
        <p:spPr>
          <a:xfrm>
            <a:off x="3429000" y="1051560"/>
            <a:ext cx="228600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chemeClr val="accent4"/>
                </a:solidFill>
              </a:defRPr>
            </a:lvl1pPr>
          </a:lstStyle>
          <a:p>
            <a:pPr/>
            <a:r>
              <a:t>MULTI-STEP TOOL CHAINS</a:t>
            </a:r>
          </a:p>
        </p:txBody>
      </p:sp>
      <p:sp>
        <p:nvSpPr>
          <p:cNvPr id="185" name="Text 8"/>
          <p:cNvSpPr txBox="1"/>
          <p:nvPr/>
        </p:nvSpPr>
        <p:spPr>
          <a:xfrm>
            <a:off x="3429000" y="1325879"/>
            <a:ext cx="2286000" cy="553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000">
                <a:solidFill>
                  <a:srgbClr val="F4F6FB"/>
                </a:solidFill>
              </a:defRPr>
            </a:pPr>
            <a:r>
              <a:t>1 call → </a:t>
            </a:r>
            <a:r>
              <a:rPr b="1">
                <a:solidFill>
                  <a:schemeClr val="accent1"/>
                </a:solidFill>
              </a:rPr>
              <a:t>0.394</a:t>
            </a:r>
          </a:p>
          <a:p>
            <a:pPr>
              <a:defRPr sz="2000">
                <a:solidFill>
                  <a:srgbClr val="F4F6FB"/>
                </a:solidFill>
              </a:defRPr>
            </a:pPr>
            <a:r>
              <a:t>3 calls → </a:t>
            </a:r>
            <a:r>
              <a:rPr b="1">
                <a:solidFill>
                  <a:schemeClr val="accent3"/>
                </a:solidFill>
              </a:rPr>
              <a:t>0.062</a:t>
            </a:r>
          </a:p>
        </p:txBody>
      </p:sp>
      <p:sp>
        <p:nvSpPr>
          <p:cNvPr id="186" name="Text 9"/>
          <p:cNvSpPr txBox="1"/>
          <p:nvPr/>
        </p:nvSpPr>
        <p:spPr>
          <a:xfrm>
            <a:off x="3429000" y="2286000"/>
            <a:ext cx="2286000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F4F6FB"/>
                </a:solidFill>
              </a:defRPr>
            </a:lvl1pPr>
          </a:lstStyle>
          <a:p>
            <a:pPr/>
            <a:r>
              <a:t>Performance degrades sharply as chained calls increase.</a:t>
            </a:r>
          </a:p>
        </p:txBody>
      </p:sp>
      <p:sp>
        <p:nvSpPr>
          <p:cNvPr id="187" name="Shape 10"/>
          <p:cNvSpPr/>
          <p:nvPr/>
        </p:nvSpPr>
        <p:spPr>
          <a:xfrm>
            <a:off x="6035040" y="960119"/>
            <a:ext cx="2651761" cy="1920241"/>
          </a:xfrm>
          <a:prstGeom prst="roundRect">
            <a:avLst>
              <a:gd name="adj" fmla="val 5714"/>
            </a:avLst>
          </a:prstGeom>
          <a:solidFill>
            <a:srgbClr val="131722"/>
          </a:solidFill>
          <a:ln w="12700">
            <a:solidFill>
              <a:srgbClr val="252B3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Text 11"/>
          <p:cNvSpPr txBox="1"/>
          <p:nvPr/>
        </p:nvSpPr>
        <p:spPr>
          <a:xfrm>
            <a:off x="6217920" y="1051560"/>
            <a:ext cx="228600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chemeClr val="accent4"/>
                </a:solidFill>
              </a:defRPr>
            </a:lvl1pPr>
          </a:lstStyle>
          <a:p>
            <a:pPr/>
            <a:r>
              <a:t>HARDWARE SENSITIVITY</a:t>
            </a:r>
          </a:p>
        </p:txBody>
      </p:sp>
      <p:sp>
        <p:nvSpPr>
          <p:cNvPr id="189" name="Text 12"/>
          <p:cNvSpPr txBox="1"/>
          <p:nvPr/>
        </p:nvSpPr>
        <p:spPr>
          <a:xfrm>
            <a:off x="6217920" y="1325879"/>
            <a:ext cx="2286001" cy="5535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000">
                <a:solidFill>
                  <a:srgbClr val="F4F6FB"/>
                </a:solidFill>
              </a:defRPr>
            </a:pPr>
            <a:r>
              <a:t>8 GB GPU → </a:t>
            </a:r>
            <a:r>
              <a:rPr b="1">
                <a:solidFill>
                  <a:schemeClr val="accent3"/>
                </a:solidFill>
              </a:rPr>
              <a:t>0.022</a:t>
            </a:r>
          </a:p>
          <a:p>
            <a:pPr>
              <a:defRPr sz="2000">
                <a:solidFill>
                  <a:srgbClr val="F4F6FB"/>
                </a:solidFill>
              </a:defRPr>
            </a:pPr>
            <a:r>
              <a:t>16 GB T4 → </a:t>
            </a:r>
            <a:r>
              <a:rPr b="1">
                <a:solidFill>
                  <a:schemeClr val="accent1"/>
                </a:solidFill>
              </a:rPr>
              <a:t>0.290</a:t>
            </a:r>
          </a:p>
        </p:txBody>
      </p:sp>
      <p:sp>
        <p:nvSpPr>
          <p:cNvPr id="190" name="Text 13"/>
          <p:cNvSpPr txBox="1"/>
          <p:nvPr/>
        </p:nvSpPr>
        <p:spPr>
          <a:xfrm>
            <a:off x="6217920" y="2286000"/>
            <a:ext cx="2286001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F4F6FB"/>
                </a:solidFill>
              </a:defRPr>
            </a:lvl1pPr>
          </a:lstStyle>
          <a:p>
            <a:pPr/>
            <a:r>
              <a:t>Same code, very different results depending on hardware and latency.</a:t>
            </a:r>
          </a:p>
        </p:txBody>
      </p:sp>
      <p:sp>
        <p:nvSpPr>
          <p:cNvPr id="191" name="Text 14"/>
          <p:cNvSpPr txBox="1"/>
          <p:nvPr/>
        </p:nvSpPr>
        <p:spPr>
          <a:xfrm>
            <a:off x="457200" y="3017520"/>
            <a:ext cx="2743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chemeClr val="accent4"/>
                </a:solidFill>
              </a:defRPr>
            </a:lvl1pPr>
          </a:lstStyle>
          <a:p>
            <a:pPr/>
            <a:r>
              <a:t>FUTURE WORK</a:t>
            </a:r>
          </a:p>
        </p:txBody>
      </p:sp>
      <p:grpSp>
        <p:nvGrpSpPr>
          <p:cNvPr id="194" name="Text 15"/>
          <p:cNvGrpSpPr/>
          <p:nvPr/>
        </p:nvGrpSpPr>
        <p:grpSpPr>
          <a:xfrm>
            <a:off x="457200" y="3246120"/>
            <a:ext cx="1508761" cy="292609"/>
            <a:chOff x="0" y="0"/>
            <a:chExt cx="1508760" cy="292608"/>
          </a:xfrm>
        </p:grpSpPr>
        <p:sp>
          <p:nvSpPr>
            <p:cNvPr id="192" name="Rounded Rectangle"/>
            <p:cNvSpPr/>
            <p:nvPr/>
          </p:nvSpPr>
          <p:spPr>
            <a:xfrm>
              <a:off x="0" y="0"/>
              <a:ext cx="1508761" cy="292609"/>
            </a:xfrm>
            <a:prstGeom prst="roundRect">
              <a:avLst>
                <a:gd name="adj" fmla="val 31250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193" name="Argument validation"/>
            <p:cNvSpPr txBox="1"/>
            <p:nvPr/>
          </p:nvSpPr>
          <p:spPr>
            <a:xfrm>
              <a:off x="33131" y="82803"/>
              <a:ext cx="1442498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900">
                  <a:solidFill>
                    <a:srgbClr val="F4F6FB"/>
                  </a:solidFill>
                </a:defRPr>
              </a:lvl1pPr>
            </a:lstStyle>
            <a:p>
              <a:pPr/>
              <a:r>
                <a:t>Argument validation</a:t>
              </a:r>
            </a:p>
          </p:txBody>
        </p:sp>
      </p:grpSp>
      <p:grpSp>
        <p:nvGrpSpPr>
          <p:cNvPr id="197" name="Text 16"/>
          <p:cNvGrpSpPr/>
          <p:nvPr/>
        </p:nvGrpSpPr>
        <p:grpSpPr>
          <a:xfrm>
            <a:off x="2057400" y="3246120"/>
            <a:ext cx="1508761" cy="292609"/>
            <a:chOff x="0" y="0"/>
            <a:chExt cx="1508760" cy="292608"/>
          </a:xfrm>
        </p:grpSpPr>
        <p:sp>
          <p:nvSpPr>
            <p:cNvPr id="195" name="Rounded Rectangle"/>
            <p:cNvSpPr/>
            <p:nvPr/>
          </p:nvSpPr>
          <p:spPr>
            <a:xfrm>
              <a:off x="0" y="0"/>
              <a:ext cx="1508761" cy="292609"/>
            </a:xfrm>
            <a:prstGeom prst="roundRect">
              <a:avLst>
                <a:gd name="adj" fmla="val 31250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196" name="Multi-step planning"/>
            <p:cNvSpPr txBox="1"/>
            <p:nvPr/>
          </p:nvSpPr>
          <p:spPr>
            <a:xfrm>
              <a:off x="33131" y="82803"/>
              <a:ext cx="1442498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900">
                  <a:solidFill>
                    <a:srgbClr val="F4F6FB"/>
                  </a:solidFill>
                </a:defRPr>
              </a:lvl1pPr>
            </a:lstStyle>
            <a:p>
              <a:pPr/>
              <a:r>
                <a:t>Multi-step planning</a:t>
              </a:r>
            </a:p>
          </p:txBody>
        </p:sp>
      </p:grpSp>
      <p:grpSp>
        <p:nvGrpSpPr>
          <p:cNvPr id="200" name="Text 17"/>
          <p:cNvGrpSpPr/>
          <p:nvPr/>
        </p:nvGrpSpPr>
        <p:grpSpPr>
          <a:xfrm>
            <a:off x="3657600" y="3246120"/>
            <a:ext cx="1600200" cy="292609"/>
            <a:chOff x="0" y="0"/>
            <a:chExt cx="1600200" cy="292608"/>
          </a:xfrm>
        </p:grpSpPr>
        <p:sp>
          <p:nvSpPr>
            <p:cNvPr id="198" name="Rounded Rectangle"/>
            <p:cNvSpPr/>
            <p:nvPr/>
          </p:nvSpPr>
          <p:spPr>
            <a:xfrm>
              <a:off x="0" y="0"/>
              <a:ext cx="1600200" cy="292609"/>
            </a:xfrm>
            <a:prstGeom prst="roundRect">
              <a:avLst>
                <a:gd name="adj" fmla="val 31250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199" name="Faster local inference"/>
            <p:cNvSpPr txBox="1"/>
            <p:nvPr/>
          </p:nvSpPr>
          <p:spPr>
            <a:xfrm>
              <a:off x="33131" y="82803"/>
              <a:ext cx="1533938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900">
                  <a:solidFill>
                    <a:srgbClr val="F4F6FB"/>
                  </a:solidFill>
                </a:defRPr>
              </a:lvl1pPr>
            </a:lstStyle>
            <a:p>
              <a:pPr/>
              <a:r>
                <a:t>Faster local inference</a:t>
              </a:r>
            </a:p>
          </p:txBody>
        </p:sp>
      </p:grpSp>
      <p:grpSp>
        <p:nvGrpSpPr>
          <p:cNvPr id="203" name="Text 18"/>
          <p:cNvGrpSpPr/>
          <p:nvPr/>
        </p:nvGrpSpPr>
        <p:grpSpPr>
          <a:xfrm>
            <a:off x="5349240" y="3246120"/>
            <a:ext cx="1508761" cy="292609"/>
            <a:chOff x="0" y="0"/>
            <a:chExt cx="1508760" cy="292608"/>
          </a:xfrm>
        </p:grpSpPr>
        <p:sp>
          <p:nvSpPr>
            <p:cNvPr id="201" name="Rounded Rectangle"/>
            <p:cNvSpPr/>
            <p:nvPr/>
          </p:nvSpPr>
          <p:spPr>
            <a:xfrm>
              <a:off x="0" y="0"/>
              <a:ext cx="1508761" cy="292609"/>
            </a:xfrm>
            <a:prstGeom prst="roundRect">
              <a:avLst>
                <a:gd name="adj" fmla="val 31250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202" name="Larger local models"/>
            <p:cNvSpPr txBox="1"/>
            <p:nvPr/>
          </p:nvSpPr>
          <p:spPr>
            <a:xfrm>
              <a:off x="33131" y="82803"/>
              <a:ext cx="1442498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900">
                  <a:solidFill>
                    <a:srgbClr val="F4F6FB"/>
                  </a:solidFill>
                </a:defRPr>
              </a:lvl1pPr>
            </a:lstStyle>
            <a:p>
              <a:pPr/>
              <a:r>
                <a:t>Larger local models</a:t>
              </a:r>
            </a:p>
          </p:txBody>
        </p:sp>
      </p:grpSp>
      <p:grpSp>
        <p:nvGrpSpPr>
          <p:cNvPr id="206" name="Text 19"/>
          <p:cNvGrpSpPr/>
          <p:nvPr/>
        </p:nvGrpSpPr>
        <p:grpSpPr>
          <a:xfrm>
            <a:off x="6949440" y="3246120"/>
            <a:ext cx="1737361" cy="292609"/>
            <a:chOff x="0" y="0"/>
            <a:chExt cx="1737360" cy="292608"/>
          </a:xfrm>
        </p:grpSpPr>
        <p:sp>
          <p:nvSpPr>
            <p:cNvPr id="204" name="Rounded Rectangle"/>
            <p:cNvSpPr/>
            <p:nvPr/>
          </p:nvSpPr>
          <p:spPr>
            <a:xfrm>
              <a:off x="0" y="0"/>
              <a:ext cx="1737361" cy="292609"/>
            </a:xfrm>
            <a:prstGeom prst="roundRect">
              <a:avLst>
                <a:gd name="adj" fmla="val 31250"/>
              </a:avLst>
            </a:prstGeom>
            <a:solidFill>
              <a:srgbClr val="131722"/>
            </a:solidFill>
            <a:ln w="12700" cap="flat">
              <a:solidFill>
                <a:srgbClr val="252B3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/>
              </a:pPr>
            </a:p>
          </p:txBody>
        </p:sp>
        <p:sp>
          <p:nvSpPr>
            <p:cNvPr id="205" name="State &amp; rollback handling"/>
            <p:cNvSpPr txBox="1"/>
            <p:nvPr/>
          </p:nvSpPr>
          <p:spPr>
            <a:xfrm>
              <a:off x="33131" y="82803"/>
              <a:ext cx="1671098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7" tIns="507" rIns="507" bIns="507" numCol="1" anchor="ctr">
              <a:spAutoFit/>
            </a:bodyPr>
            <a:lstStyle>
              <a:lvl1pPr algn="ctr">
                <a:defRPr sz="900">
                  <a:solidFill>
                    <a:srgbClr val="F4F6FB"/>
                  </a:solidFill>
                </a:defRPr>
              </a:lvl1pPr>
            </a:lstStyle>
            <a:p>
              <a:pPr/>
              <a:r>
                <a:t>State &amp; rollback handling</a:t>
              </a:r>
            </a:p>
          </p:txBody>
        </p:sp>
      </p:grpSp>
      <p:sp>
        <p:nvSpPr>
          <p:cNvPr id="207" name="Text 20"/>
          <p:cNvSpPr txBox="1"/>
          <p:nvPr/>
        </p:nvSpPr>
        <p:spPr>
          <a:xfrm>
            <a:off x="457200" y="3929469"/>
            <a:ext cx="8229600" cy="55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000">
                <a:solidFill>
                  <a:srgbClr val="F4F6FB"/>
                </a:solidFill>
              </a:defRPr>
            </a:pPr>
            <a:r>
              <a:t>Reliable voice agents need more than a model that understands.</a:t>
            </a:r>
          </a:p>
          <a:p>
            <a:pPr>
              <a:defRPr b="1" sz="2000">
                <a:solidFill>
                  <a:schemeClr val="accent1"/>
                </a:solidFill>
              </a:defRPr>
            </a:pPr>
            <a:r>
              <a:t>They need a system that knows WHEN to act.</a:t>
            </a:r>
          </a:p>
        </p:txBody>
      </p:sp>
      <p:sp>
        <p:nvSpPr>
          <p:cNvPr id="208" name="Slide Number Placeholder 0"/>
          <p:cNvSpPr txBox="1"/>
          <p:nvPr>
            <p:ph type="sldNum" sz="quarter" idx="4294967295"/>
          </p:nvPr>
        </p:nvSpPr>
        <p:spPr>
          <a:xfrm>
            <a:off x="8229600" y="4828032"/>
            <a:ext cx="155635" cy="19601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Voice Agents Dark">
  <a:themeElements>
    <a:clrScheme name="Voice Agents Dark">
      <a:dk1>
        <a:srgbClr val="0A0C12"/>
      </a:dk1>
      <a:lt1>
        <a:srgbClr val="0A0C12"/>
      </a:lt1>
      <a:dk2>
        <a:srgbClr val="A7A7A7"/>
      </a:dk2>
      <a:lt2>
        <a:srgbClr val="535353"/>
      </a:lt2>
      <a:accent1>
        <a:srgbClr val="FFB020"/>
      </a:accent1>
      <a:accent2>
        <a:srgbClr val="3DDC97"/>
      </a:accent2>
      <a:accent3>
        <a:srgbClr val="FF5D6C"/>
      </a:accent3>
      <a:accent4>
        <a:srgbClr val="8B93A7"/>
      </a:accent4>
      <a:accent5>
        <a:srgbClr val="5A2A31"/>
      </a:accent5>
      <a:accent6>
        <a:srgbClr val="1F5A41"/>
      </a:accent6>
      <a:hlink>
        <a:srgbClr val="0000FF"/>
      </a:hlink>
      <a:folHlink>
        <a:srgbClr val="FF00FF"/>
      </a:folHlink>
    </a:clrScheme>
    <a:fontScheme name="Voice Agents Dark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Voice Agents 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4F6FB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A0C12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A0C12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Voice Agents Dark">
  <a:themeElements>
    <a:clrScheme name="Voice Agents Dark">
      <a:dk1>
        <a:srgbClr val="0A0C12"/>
      </a:dk1>
      <a:lt1>
        <a:srgbClr val="121008"/>
      </a:lt1>
      <a:dk2>
        <a:srgbClr val="A7A7A7"/>
      </a:dk2>
      <a:lt2>
        <a:srgbClr val="535353"/>
      </a:lt2>
      <a:accent1>
        <a:srgbClr val="FFB020"/>
      </a:accent1>
      <a:accent2>
        <a:srgbClr val="3DDC97"/>
      </a:accent2>
      <a:accent3>
        <a:srgbClr val="FF5D6C"/>
      </a:accent3>
      <a:accent4>
        <a:srgbClr val="8B93A7"/>
      </a:accent4>
      <a:accent5>
        <a:srgbClr val="5A2A31"/>
      </a:accent5>
      <a:accent6>
        <a:srgbClr val="1F5A41"/>
      </a:accent6>
      <a:hlink>
        <a:srgbClr val="0000FF"/>
      </a:hlink>
      <a:folHlink>
        <a:srgbClr val="FF00FF"/>
      </a:folHlink>
    </a:clrScheme>
    <a:fontScheme name="Voice Agents Dark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Voice Agents 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4F6FB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A0C12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A0C12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