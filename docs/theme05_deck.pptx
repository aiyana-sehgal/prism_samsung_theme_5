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Don't act on a sentence
the user hasn't finished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FB4D0"/>
                </a:solidFill>
                <a:latin typeface="Calibri"/>
              </a:rPr>
              <a:t>A tool commit gate for interruptible voice agents — Full-Duplex-Bench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315968"/>
            <a:ext cx="1005840" cy="50292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645152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4A259"/>
                </a:solidFill>
                <a:latin typeface="Calibri"/>
              </a:rPr>
              <a:t>Self-correction Pass@1   0.471   vs   0.176   published cascaded baseline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9FB4D0"/>
                </a:solidFill>
                <a:latin typeface="Calibri"/>
              </a:rPr>
              <a:t>100 scenarios  ·  fully local models  ·  no paid API at evaluation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1295C"/>
                </a:solidFill>
                <a:latin typeface="Cambria"/>
              </a:rPr>
              <a:t>One stale call fails the whole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8"/>
                </a:solidFill>
                <a:latin typeface="Calibri"/>
              </a:rPr>
              <a:t>FDB-v3 strict pass: every expected tool called, no extra tools, all arguments correct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029200" cy="2971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957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A6478"/>
                </a:solidFill>
                <a:latin typeface="Calibri"/>
              </a:rPr>
              <a:t>THE USER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4480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1A1F36"/>
                </a:solidFill>
                <a:latin typeface="Calibri"/>
              </a:rPr>
              <a:t>“Book me a flight to Paris on the tenth… no wait, make that Berlin.”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023360"/>
            <a:ext cx="3931920" cy="402336"/>
          </a:xfrm>
          <a:prstGeom prst="roundRect">
            <a:avLst>
              <a:gd name="adj" fmla="val 25000"/>
            </a:avLst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search_flights(Paris)   → 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535424"/>
            <a:ext cx="3931920" cy="402336"/>
          </a:xfrm>
          <a:prstGeom prst="roundRect">
            <a:avLst>
              <a:gd name="adj" fmla="val 25000"/>
            </a:avLst>
          </a:prstGeom>
          <a:solidFill>
            <a:srgbClr val="2C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search_flights(Berlin)  →  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4983480" cy="2971800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2700">
            <a:solidFill>
              <a:srgbClr val="F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957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5A1E"/>
                </a:solidFill>
                <a:latin typeface="Calibri"/>
              </a:rPr>
              <a:t>WHY THIS IS 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4343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Arguments are matched against the first logged call per function — so the stale Paris search is what gets scored.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A read-only search costs exactly as much as a booking. Any extra call fails the scenario outright.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8A5A1E"/>
                </a:solidFill>
                <a:latin typeface="Calibri"/>
              </a:rPr>
              <a:t>The model is usually right. The timing is what's wrong.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Interruptible Voice Agent with a Tool Commit Gate  ·  Theme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21295C"/>
                </a:solidFill>
                <a:latin typeface="Cambria"/>
              </a:rPr>
              <a:t>The LLM proposes. The controller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8"/>
                </a:solidFill>
                <a:latin typeface="Calibri"/>
              </a:rPr>
              <a:t>A coordination layer between the planner and the tools — the only structural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057400" cy="7132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65A82"/>
                </a:solidFill>
                <a:latin typeface="Calibri"/>
              </a:rPr>
              <a:t>User audio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7248" y="2240280"/>
            <a:ext cx="2057400" cy="7132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65A82"/>
                </a:solidFill>
                <a:latin typeface="Calibri"/>
              </a:rPr>
              <a:t>VAD + turn
detector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31536" y="2240280"/>
            <a:ext cx="2057400" cy="7132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65A82"/>
                </a:solidFill>
                <a:latin typeface="Calibri"/>
              </a:rPr>
              <a:t>Whisper STT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5824" y="2240280"/>
            <a:ext cx="2057400" cy="713232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65A82"/>
                </a:solidFill>
                <a:latin typeface="Calibri"/>
              </a:rPr>
              <a:t>LLM planner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40112" y="2240280"/>
            <a:ext cx="1298448" cy="713232"/>
          </a:xfrm>
          <a:prstGeom prst="roundRect">
            <a:avLst>
              <a:gd name="adj" fmla="val 12000"/>
            </a:avLst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5A380A"/>
                </a:solidFill>
                <a:latin typeface="Calibri"/>
              </a:rPr>
              <a:t>TOOL
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3200400" cy="475488"/>
          </a:xfrm>
          <a:prstGeom prst="roundRect">
            <a:avLst>
              <a:gd name="adj" fmla="val 25000"/>
            </a:avLst>
          </a:prstGeom>
          <a:solidFill>
            <a:srgbClr val="B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 resumed speaking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355701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F36"/>
                </a:solidFill>
                <a:latin typeface="Calibri"/>
              </a:rPr>
              <a:t>superseded — never executed, never logged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3200400" cy="475488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identical call already made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437997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F36"/>
                </a:solidFill>
                <a:latin typeface="Calibri"/>
              </a:rPr>
              <a:t>dedup — cached result returned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3200400" cy="475488"/>
          </a:xfrm>
          <a:prstGeom prst="roundRect">
            <a:avLst>
              <a:gd name="adj" fmla="val 25000"/>
            </a:avLst>
          </a:prstGeom>
          <a:solidFill>
            <a:srgbClr val="2C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quiet window elapsed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5202936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F36"/>
                </a:solidFill>
                <a:latin typeface="Calibri"/>
              </a:rPr>
              <a:t>executed — mock API runs, call logged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478"/>
                </a:solidFill>
                <a:latin typeface="Calibri"/>
              </a:rPr>
              <a:t>Everything upstream is a stock LiveKit pipeline. The gate is the contribution.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Interruptible Voice Agent with a Tool Commit Gate  ·  Theme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1295C"/>
                </a:solidFill>
                <a:latin typeface="Cambria"/>
              </a:rPr>
              <a:t>Three rules, plus staying alive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8"/>
                </a:solidFill>
                <a:latin typeface="Calibri"/>
              </a:rPr>
              <a:t>agent/controller.py — session-scoped, one controller per room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94560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22128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1295C"/>
                </a:solidFill>
                <a:latin typeface="Cambria"/>
              </a:rPr>
              <a:t>Commit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261518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A call runs only after the user has been silent for a quiet window (0.9 s), measured from the end of their speech so LLM thinking time overlaps it.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91839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3310127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1295C"/>
                </a:solidFill>
                <a:latin typeface="Cambria"/>
              </a:rPr>
              <a:t>Idempotency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3712463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Identical calls — same tool, normalized arguments — execute once per session. Dedup is by arguments, not by name.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389120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4407407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1295C"/>
                </a:solidFill>
                <a:latin typeface="Cambria"/>
              </a:rPr>
              <a:t>In-flight dedup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4809744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Concurrent identical proposals share a single execution rather than racing each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786384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596128"/>
            <a:ext cx="9921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1A1F36"/>
                </a:solidFill>
                <a:latin typeface="Calibri"/>
              </a:rPr>
              <a:t>Keep-alive: the harness disconnects 1.5 s after the audio ends. close_on_disconnect=False lets calls still inside the gate finish and be logged.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Interruptible Voice Agent with a Tool Commit Gate  ·  Theme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1295C"/>
                </a:solidFill>
                <a:latin typeface="Cambria"/>
              </a:rPr>
              <a:t>Results against the published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8"/>
                </a:solidFill>
                <a:latin typeface="Calibri"/>
              </a:rPr>
              <a:t>100 scenarios  ·  baseline is the Cascaded row of FDB-v3 Table 2 (arXiv:2604.04847)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6766560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011680"/>
                <a:gridCol w="19659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2296" marR="82296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Cascaded baseline</a:t>
                      </a:r>
                    </a:p>
                  </a:txBody>
                  <a:tcPr marL="82296" marR="82296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This agent</a:t>
                      </a:r>
                    </a:p>
                  </a:txBody>
                  <a:tcPr marL="82296" marR="82296" marT="18288" marB="18288" anchor="ctr"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Tool selection accuracy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0.803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6A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Argument accuracy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36"/>
                          </a:solidFill>
                          <a:latin typeface="Calibri"/>
                        </a:rPr>
                        <a:t>0.562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0.418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Pass@1 — strict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36"/>
                          </a:solidFill>
                          <a:latin typeface="Calibri"/>
                        </a:rPr>
                        <a:t>0.450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0.290 / 0.500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Turn-take rate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36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94.0%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Task completion latency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10.12 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6A"/>
                          </a:solidFill>
                          <a:latin typeface="Calibri"/>
                        </a:rPr>
                        <a:t>5.12 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Interruption rate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33.0%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6A"/>
                          </a:solidFill>
                          <a:latin typeface="Calibri"/>
                        </a:rPr>
                        <a:t>4.3%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82127" y="2148840"/>
            <a:ext cx="3456432" cy="3017520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2700">
            <a:solidFill>
              <a:srgbClr val="F0D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3774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5A1E"/>
                </a:solidFill>
                <a:latin typeface="Calibri"/>
              </a:rPr>
              <a:t>SELF-CORRECTION Pass@1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7432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21295C"/>
                </a:solidFill>
                <a:latin typeface="Cambria"/>
              </a:rPr>
              <a:t>0.471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6576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>
                <a:solidFill>
                  <a:srgbClr val="1A1F36"/>
                </a:solidFill>
                <a:latin typeface="Calibri"/>
              </a:rPr>
              <a:t>vs 0.176 for the published cascaded baseline — the lowest score of any system the paper tested.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8A5A1E"/>
                </a:solidFill>
                <a:latin typeface="Calibri"/>
              </a:rPr>
              <a:t>2.7×, with a free local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1A1F36"/>
                </a:solidFill>
                <a:latin typeface="Calibri"/>
              </a:rPr>
              <a:t>Rollback scenarios score 0.471 vs 0.253 without — better on the harder subset, which is the gate working.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5A6478"/>
                </a:solidFill>
                <a:latin typeface="Calibri"/>
              </a:rPr>
              <a:t>Pass@1 is not directly comparable: official evaluation uses a paid gpt-4o judge. 0.290 is exact-match; 0.500 is that judge pointed at the local 7B.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Interruptible Voice Agent with a Tool Commit Gate  ·  Theme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1295C"/>
                </a:solidFill>
                <a:latin typeface="Cambria"/>
              </a:rPr>
              <a:t>Where it still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8"/>
                </a:solidFill>
                <a:latin typeface="Calibri"/>
              </a:rPr>
              <a:t>71 failures — tool selection is near-solved, arguments are not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6766560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371600"/>
                <a:gridCol w="21488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Argument failure root cause</a:t>
                      </a:r>
                    </a:p>
                  </a:txBody>
                  <a:tcPr marL="82296" marR="82296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82296" marR="82296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Fixable</a:t>
                      </a:r>
                    </a:p>
                  </a:txBody>
                  <a:tcPr marL="82296" marR="82296" marT="18288" marB="18288" anchor="ctr"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Genuine comprehension error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bigger model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Date reformatted / year invented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6A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Verbosity (savings_account)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6A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Spelled ID punctuation (D-L-5-5-5)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6A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82296" marR="82296" marT="18288" marB="18288" anchor="ctr"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Absent from official schema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F36"/>
                          </a:solidFill>
                          <a:latin typeface="Calibri"/>
                        </a:rPr>
                        <a:t>unreachable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82127" y="2148840"/>
            <a:ext cx="3456432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331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A6478"/>
                </a:solidFill>
                <a:latin typeface="Calibri"/>
              </a:rPr>
              <a:t>CHAINS COLLAPSE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69748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1A1F36"/>
                </a:solidFill>
                <a:latin typeface="Calibri"/>
              </a:rPr>
              <a:t>1 tool  0.394     2 tools  0.111     3 tools  0.062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7" y="3749039"/>
            <a:ext cx="3456432" cy="14173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3931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THE GATE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27939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1A1F36"/>
                </a:solidFill>
                <a:latin typeface="Calibri"/>
              </a:rPr>
              <a:t>22 calls blocked before reaching the log — 18 superseded, 4 duplicates. Each would have failed its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7667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0">
                <a:solidFill>
                  <a:srgbClr val="1A1F36"/>
                </a:solidFill>
                <a:latin typeface="Calibri"/>
              </a:rPr>
              <a:t>travel_identity scores 0.0 despite 0.937 tool selection: it picks search_flights correctly every time, then writes 2023-10-07 for “October 7”.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5A6478"/>
                </a:solidFill>
                <a:latin typeface="Calibri"/>
              </a:rPr>
              <a:t>Hardware mattered — the same code scored 0.022 on an 8 GB laptop GPU and 0.290 on a 16 GB T4, entirely through latency.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Interruptible Voice Agent with a Tool Commit Gate  ·  Theme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1295C"/>
                </a:solidFill>
                <a:latin typeface="Cambria"/>
              </a:rPr>
              <a:t>Extension: hands-free smart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8"/>
                </a:solidFill>
                <a:latin typeface="Calibri"/>
              </a:rPr>
              <a:t>Same controller, different idempotency policy — because real devices hold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029200" cy="27889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77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A6478"/>
                </a:solidFill>
                <a:latin typeface="Calibri"/>
              </a:rPr>
              <a:t>BENCHMARK — STATELESS MOCK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Session-level dedup is correct. Calling add_to_cart twice with identical arguments is a duplicate, and repeating it is always wrong.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065A82"/>
                </a:solidFill>
                <a:latin typeface="Courier New"/>
              </a:rPr>
              <a:t>dedupe=True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48840"/>
            <a:ext cx="4983480" cy="2788920"/>
          </a:xfrm>
          <a:prstGeom prst="roundRect">
            <a:avLst>
              <a:gd name="adj" fmla="val 6000"/>
            </a:avLst>
          </a:prstGeom>
          <a:solidFill>
            <a:srgbClr val="ECF5F1"/>
          </a:solidFill>
          <a:ln w="12700">
            <a:solidFill>
              <a:srgbClr val="BF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C8C6A"/>
                </a:solidFill>
                <a:latin typeface="Calibri"/>
              </a:rPr>
              <a:t>REAL HOME — DEVICES HOLD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389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Session dedup would be actively wrong: “turn the lights back on” an hour later must work. Idempotency moves into the device — already in that state returns no_change.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2C8C6A"/>
                </a:solidFill>
                <a:latin typeface="Courier New"/>
              </a:rPr>
              <a:t>dedupe=False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1A1F36"/>
                </a:solidFill>
                <a:latin typeface="Calibri"/>
              </a:rPr>
              <a:t>“Set the AC to 22… no wait, the bedroom one, and make it 24”  →  only the bedroom AC changes; the living-room call is superseded.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0">
                <a:solidFill>
                  <a:srgbClr val="5A6478"/>
                </a:solidFill>
                <a:latin typeface="Calibri"/>
              </a:rPr>
              <a:t>The controller takes dedupe as a parameter precisely so the policy can follow the domain. The gate logic is unchanged.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Interruptible Voice Agent with a Tool Commit Gate  ·  Theme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96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What I would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2646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4D0"/>
                </a:solidFill>
                <a:latin typeface="Calibri"/>
              </a:rPr>
              <a:t>Ranked by measured impact, from the failure data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450591"/>
            <a:ext cx="146304" cy="1463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Argument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734056"/>
            <a:ext cx="9784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9FB4D0"/>
                </a:solidFill>
                <a:latin typeface="Calibri"/>
              </a:rPr>
              <a:t>Dates, verbosity and spelled IDs are 51% of argument failures and need only general prompt rules — roughly 10–15 points of Pass@1.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56432"/>
            <a:ext cx="146304" cy="1463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337560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A stronger local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39896"/>
            <a:ext cx="9784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9FB4D0"/>
                </a:solidFill>
                <a:latin typeface="Calibri"/>
              </a:rPr>
              <a:t>Tool selection is already 0.895; the gap is argument fidelity and multi-step chains, both of which scale with model size.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62272"/>
            <a:ext cx="146304" cy="1463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343400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Prewarm models per job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745736"/>
            <a:ext cx="9784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9FB4D0"/>
                </a:solidFill>
                <a:latin typeface="Calibri"/>
              </a:rPr>
              <a:t>LiveKit runs each job in its own subprocess, so Whisper and Piper reload per scenario — the remaining latency to cut.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468112"/>
            <a:ext cx="146304" cy="146304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349240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Adaptive quiet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751576"/>
            <a:ext cx="9784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9FB4D0"/>
                </a:solidFill>
                <a:latin typeface="Calibri"/>
              </a:rPr>
              <a:t>Learn the pause that separates thinking from finished, per speaker, instead of one fixed 0.9 s for everyone.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309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7A96"/>
                </a:solidFill>
                <a:latin typeface="Courier New"/>
              </a:rPr>
              <a:t>Reproduce:   cp .env.example .env.local   →   ./reproduce.sh        (no paid API key required)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